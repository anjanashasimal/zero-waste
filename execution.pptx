
<file path=[Content_Types].xml><?xml version="1.0" encoding="utf-8"?>
<Types xmlns="http://schemas.openxmlformats.org/package/2006/content-types">
  <Default Extension="gif" ContentType="image/gif"/>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56" r:id="rId2"/>
    <p:sldId id="257" r:id="rId3"/>
    <p:sldId id="258" r:id="rId4"/>
    <p:sldId id="272" r:id="rId5"/>
    <p:sldId id="259" r:id="rId6"/>
    <p:sldId id="273" r:id="rId7"/>
    <p:sldId id="260" r:id="rId8"/>
    <p:sldId id="261" r:id="rId9"/>
    <p:sldId id="274" r:id="rId10"/>
    <p:sldId id="262" r:id="rId11"/>
    <p:sldId id="275" r:id="rId12"/>
    <p:sldId id="263" r:id="rId13"/>
    <p:sldId id="264" r:id="rId14"/>
    <p:sldId id="265" r:id="rId15"/>
    <p:sldId id="266" r:id="rId16"/>
    <p:sldId id="267" r:id="rId17"/>
    <p:sldId id="268" r:id="rId18"/>
    <p:sldId id="269" r:id="rId19"/>
    <p:sldId id="270" r:id="rId20"/>
    <p:sldId id="271" r:id="rId21"/>
    <p:sldId id="276" r:id="rId22"/>
    <p:sldId id="277"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1" d="100"/>
          <a:sy n="81" d="100"/>
        </p:scale>
        <p:origin x="754"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7EBAEAB-E0BE-45CA-856B-188CA7427559}" type="datetimeFigureOut">
              <a:rPr lang="en-US" smtClean="0"/>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44E1CE-A99E-4463-AFE2-CBD2222D7A5D}" type="slidenum">
              <a:rPr lang="en-US" smtClean="0"/>
              <a:t>‹#›</a:t>
            </a:fld>
            <a:endParaRPr lang="en-US"/>
          </a:p>
        </p:txBody>
      </p:sp>
    </p:spTree>
    <p:extLst>
      <p:ext uri="{BB962C8B-B14F-4D97-AF65-F5344CB8AC3E}">
        <p14:creationId xmlns:p14="http://schemas.microsoft.com/office/powerpoint/2010/main" val="16823150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EBAEAB-E0BE-45CA-856B-188CA7427559}" type="datetimeFigureOut">
              <a:rPr lang="en-US" smtClean="0"/>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44E1CE-A99E-4463-AFE2-CBD2222D7A5D}" type="slidenum">
              <a:rPr lang="en-US" smtClean="0"/>
              <a:t>‹#›</a:t>
            </a:fld>
            <a:endParaRPr lang="en-US"/>
          </a:p>
        </p:txBody>
      </p:sp>
    </p:spTree>
    <p:extLst>
      <p:ext uri="{BB962C8B-B14F-4D97-AF65-F5344CB8AC3E}">
        <p14:creationId xmlns:p14="http://schemas.microsoft.com/office/powerpoint/2010/main" val="27882313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EBAEAB-E0BE-45CA-856B-188CA7427559}" type="datetimeFigureOut">
              <a:rPr lang="en-US" smtClean="0"/>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44E1CE-A99E-4463-AFE2-CBD2222D7A5D}" type="slidenum">
              <a:rPr lang="en-US" smtClean="0"/>
              <a:t>‹#›</a:t>
            </a:fld>
            <a:endParaRPr lang="en-US"/>
          </a:p>
        </p:txBody>
      </p:sp>
    </p:spTree>
    <p:extLst>
      <p:ext uri="{BB962C8B-B14F-4D97-AF65-F5344CB8AC3E}">
        <p14:creationId xmlns:p14="http://schemas.microsoft.com/office/powerpoint/2010/main" val="26173238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7EBAEAB-E0BE-45CA-856B-188CA7427559}" type="datetimeFigureOut">
              <a:rPr lang="en-US" smtClean="0"/>
              <a:t>5/2/2026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444E1CE-A99E-4463-AFE2-CBD2222D7A5D}" type="slidenum">
              <a:rPr lang="en-US" smtClean="0"/>
              <a:t>‹#›</a:t>
            </a:fld>
            <a:endParaRPr lang="en-US"/>
          </a:p>
        </p:txBody>
      </p:sp>
    </p:spTree>
    <p:extLst>
      <p:ext uri="{BB962C8B-B14F-4D97-AF65-F5344CB8AC3E}">
        <p14:creationId xmlns:p14="http://schemas.microsoft.com/office/powerpoint/2010/main" val="22607982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7EBAEAB-E0BE-45CA-856B-188CA7427559}" type="datetimeFigureOut">
              <a:rPr lang="en-US" smtClean="0"/>
              <a:t>5/2/2026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444E1CE-A99E-4463-AFE2-CBD2222D7A5D}" type="slidenum">
              <a:rPr lang="en-US" smtClean="0"/>
              <a:t>‹#›</a:t>
            </a:fld>
            <a:endParaRPr lang="en-US"/>
          </a:p>
        </p:txBody>
      </p:sp>
    </p:spTree>
    <p:extLst>
      <p:ext uri="{BB962C8B-B14F-4D97-AF65-F5344CB8AC3E}">
        <p14:creationId xmlns:p14="http://schemas.microsoft.com/office/powerpoint/2010/main" val="40301579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7EBAEAB-E0BE-45CA-856B-188CA7427559}" type="datetimeFigureOut">
              <a:rPr lang="en-US" smtClean="0"/>
              <a:t>5/2/2026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444E1CE-A99E-4463-AFE2-CBD2222D7A5D}" type="slidenum">
              <a:rPr lang="en-US" smtClean="0"/>
              <a:t>‹#›</a:t>
            </a:fld>
            <a:endParaRPr lang="en-US"/>
          </a:p>
        </p:txBody>
      </p:sp>
    </p:spTree>
    <p:extLst>
      <p:ext uri="{BB962C8B-B14F-4D97-AF65-F5344CB8AC3E}">
        <p14:creationId xmlns:p14="http://schemas.microsoft.com/office/powerpoint/2010/main" val="19323112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EBAEAB-E0BE-45CA-856B-188CA7427559}" type="datetimeFigureOut">
              <a:rPr lang="en-US" smtClean="0"/>
              <a:t>5/2/2026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444E1CE-A99E-4463-AFE2-CBD2222D7A5D}" type="slidenum">
              <a:rPr lang="en-US" smtClean="0"/>
              <a:t>‹#›</a:t>
            </a:fld>
            <a:endParaRPr lang="en-US"/>
          </a:p>
        </p:txBody>
      </p:sp>
    </p:spTree>
    <p:extLst>
      <p:ext uri="{BB962C8B-B14F-4D97-AF65-F5344CB8AC3E}">
        <p14:creationId xmlns:p14="http://schemas.microsoft.com/office/powerpoint/2010/main" val="34236224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7EBAEAB-E0BE-45CA-856B-188CA7427559}" type="datetimeFigureOut">
              <a:rPr lang="en-US" smtClean="0"/>
              <a:t>5/2/2026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444E1CE-A99E-4463-AFE2-CBD2222D7A5D}" type="slidenum">
              <a:rPr lang="en-US" smtClean="0"/>
              <a:t>‹#›</a:t>
            </a:fld>
            <a:endParaRPr lang="en-US"/>
          </a:p>
        </p:txBody>
      </p:sp>
    </p:spTree>
    <p:extLst>
      <p:ext uri="{BB962C8B-B14F-4D97-AF65-F5344CB8AC3E}">
        <p14:creationId xmlns:p14="http://schemas.microsoft.com/office/powerpoint/2010/main" val="11629166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444E1CE-A99E-4463-AFE2-CBD2222D7A5D}" type="slidenum">
              <a:rPr lang="en-US" smtClean="0"/>
              <a:t>‹#›</a:t>
            </a:fld>
            <a:endParaRPr lang="en-US"/>
          </a:p>
        </p:txBody>
      </p:sp>
      <p:sp>
        <p:nvSpPr>
          <p:cNvPr id="5" name="Date Placeholder 4"/>
          <p:cNvSpPr>
            <a:spLocks noGrp="1"/>
          </p:cNvSpPr>
          <p:nvPr>
            <p:ph type="dt" sz="half" idx="10"/>
          </p:nvPr>
        </p:nvSpPr>
        <p:spPr/>
        <p:txBody>
          <a:bodyPr/>
          <a:lstStyle/>
          <a:p>
            <a:fld id="{87EBAEAB-E0BE-45CA-856B-188CA7427559}" type="datetimeFigureOut">
              <a:rPr lang="en-US" smtClean="0"/>
              <a:t>5/2/2026</a:t>
            </a:fld>
            <a:endParaRPr lang="en-US"/>
          </a:p>
        </p:txBody>
      </p:sp>
    </p:spTree>
    <p:extLst>
      <p:ext uri="{BB962C8B-B14F-4D97-AF65-F5344CB8AC3E}">
        <p14:creationId xmlns:p14="http://schemas.microsoft.com/office/powerpoint/2010/main" val="40785579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EBAEAB-E0BE-45CA-856B-188CA7427559}" type="datetimeFigureOut">
              <a:rPr lang="en-US" smtClean="0"/>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44E1CE-A99E-4463-AFE2-CBD2222D7A5D}" type="slidenum">
              <a:rPr lang="en-US" smtClean="0"/>
              <a:t>‹#›</a:t>
            </a:fld>
            <a:endParaRPr lang="en-US"/>
          </a:p>
        </p:txBody>
      </p:sp>
    </p:spTree>
    <p:extLst>
      <p:ext uri="{BB962C8B-B14F-4D97-AF65-F5344CB8AC3E}">
        <p14:creationId xmlns:p14="http://schemas.microsoft.com/office/powerpoint/2010/main" val="35577632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EBAEAB-E0BE-45CA-856B-188CA7427559}" type="datetimeFigureOut">
              <a:rPr lang="en-US" smtClean="0"/>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44E1CE-A99E-4463-AFE2-CBD2222D7A5D}"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4932473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EBAEAB-E0BE-45CA-856B-188CA7427559}" type="datetimeFigureOut">
              <a:rPr lang="en-US" smtClean="0"/>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44E1CE-A99E-4463-AFE2-CBD2222D7A5D}" type="slidenum">
              <a:rPr lang="en-US" smtClean="0"/>
              <a:t>‹#›</a:t>
            </a:fld>
            <a:endParaRPr lang="en-US"/>
          </a:p>
        </p:txBody>
      </p:sp>
    </p:spTree>
    <p:extLst>
      <p:ext uri="{BB962C8B-B14F-4D97-AF65-F5344CB8AC3E}">
        <p14:creationId xmlns:p14="http://schemas.microsoft.com/office/powerpoint/2010/main" val="26146085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EBAEAB-E0BE-45CA-856B-188CA7427559}" type="datetimeFigureOut">
              <a:rPr lang="en-US" smtClean="0"/>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44E1CE-A99E-4463-AFE2-CBD2222D7A5D}"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2349638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EBAEAB-E0BE-45CA-856B-188CA7427559}" type="datetimeFigureOut">
              <a:rPr lang="en-US" smtClean="0"/>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44E1CE-A99E-4463-AFE2-CBD2222D7A5D}" type="slidenum">
              <a:rPr lang="en-US" smtClean="0"/>
              <a:t>‹#›</a:t>
            </a:fld>
            <a:endParaRPr lang="en-US"/>
          </a:p>
        </p:txBody>
      </p:sp>
    </p:spTree>
    <p:extLst>
      <p:ext uri="{BB962C8B-B14F-4D97-AF65-F5344CB8AC3E}">
        <p14:creationId xmlns:p14="http://schemas.microsoft.com/office/powerpoint/2010/main" val="22757912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EBAEAB-E0BE-45CA-856B-188CA7427559}" type="datetimeFigureOut">
              <a:rPr lang="en-US" smtClean="0"/>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44E1CE-A99E-4463-AFE2-CBD2222D7A5D}" type="slidenum">
              <a:rPr lang="en-US" smtClean="0"/>
              <a:t>‹#›</a:t>
            </a:fld>
            <a:endParaRPr lang="en-US"/>
          </a:p>
        </p:txBody>
      </p:sp>
    </p:spTree>
    <p:extLst>
      <p:ext uri="{BB962C8B-B14F-4D97-AF65-F5344CB8AC3E}">
        <p14:creationId xmlns:p14="http://schemas.microsoft.com/office/powerpoint/2010/main" val="354993010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EBAEAB-E0BE-45CA-856B-188CA7427559}" type="datetimeFigureOut">
              <a:rPr lang="en-US" smtClean="0"/>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44E1CE-A99E-4463-AFE2-CBD2222D7A5D}" type="slidenum">
              <a:rPr lang="en-US" smtClean="0"/>
              <a:t>‹#›</a:t>
            </a:fld>
            <a:endParaRPr lang="en-US"/>
          </a:p>
        </p:txBody>
      </p:sp>
    </p:spTree>
    <p:extLst>
      <p:ext uri="{BB962C8B-B14F-4D97-AF65-F5344CB8AC3E}">
        <p14:creationId xmlns:p14="http://schemas.microsoft.com/office/powerpoint/2010/main" val="30339438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87EBAEAB-E0BE-45CA-856B-188CA7427559}" type="datetimeFigureOut">
              <a:rPr lang="en-US" smtClean="0"/>
              <a:t>5/2/2026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3444E1CE-A99E-4463-AFE2-CBD2222D7A5D}" type="slidenum">
              <a:rPr lang="en-US" smtClean="0"/>
              <a:t>‹#›</a:t>
            </a:fld>
            <a:endParaRPr lang="en-US"/>
          </a:p>
        </p:txBody>
      </p:sp>
    </p:spTree>
    <p:extLst>
      <p:ext uri="{BB962C8B-B14F-4D97-AF65-F5344CB8AC3E}">
        <p14:creationId xmlns:p14="http://schemas.microsoft.com/office/powerpoint/2010/main" val="2354364229"/>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www.projectmanagement.com/" TargetMode="External"/><Relationship Id="rId2" Type="http://schemas.openxmlformats.org/officeDocument/2006/relationships/hyperlink" Target="http://www.pmi.org/" TargetMode="External"/><Relationship Id="rId1" Type="http://schemas.openxmlformats.org/officeDocument/2006/relationships/slideLayout" Target="../slideLayouts/slideLayout2.xml"/><Relationship Id="rId5" Type="http://schemas.openxmlformats.org/officeDocument/2006/relationships/hyperlink" Target="http://www.coursera.org/" TargetMode="External"/><Relationship Id="rId4" Type="http://schemas.openxmlformats.org/officeDocument/2006/relationships/hyperlink" Target="http://www.mindtools.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E6867659-8D25-5052-BBFF-064CC20A7DDC}"/>
              </a:ext>
            </a:extLst>
          </p:cNvPr>
          <p:cNvGraphicFramePr>
            <a:graphicFrameLocks noGrp="1"/>
          </p:cNvGraphicFramePr>
          <p:nvPr>
            <p:extLst>
              <p:ext uri="{D42A27DB-BD31-4B8C-83A1-F6EECF244321}">
                <p14:modId xmlns:p14="http://schemas.microsoft.com/office/powerpoint/2010/main" val="282608742"/>
              </p:ext>
            </p:extLst>
          </p:nvPr>
        </p:nvGraphicFramePr>
        <p:xfrm>
          <a:off x="2711376" y="1901605"/>
          <a:ext cx="6562627" cy="1920240"/>
        </p:xfrm>
        <a:graphic>
          <a:graphicData uri="http://schemas.openxmlformats.org/drawingml/2006/table">
            <a:tbl>
              <a:tblPr/>
              <a:tblGrid>
                <a:gridCol w="6562627">
                  <a:extLst>
                    <a:ext uri="{9D8B030D-6E8A-4147-A177-3AD203B41FA5}">
                      <a16:colId xmlns:a16="http://schemas.microsoft.com/office/drawing/2014/main" val="1160011297"/>
                    </a:ext>
                  </a:extLst>
                </a:gridCol>
              </a:tblGrid>
              <a:tr h="0">
                <a:tc>
                  <a:txBody>
                    <a:bodyPr/>
                    <a:lstStyle/>
                    <a:p>
                      <a:endParaRPr lang="en-US">
                        <a:effectLst/>
                        <a:latin typeface="Garamond" panose="02020404030301010803" pitchFamily="18" charset="0"/>
                      </a:endParaRPr>
                    </a:p>
                  </a:txBody>
                  <a:tcPr anchor="ctr">
                    <a:lnL>
                      <a:noFill/>
                    </a:lnL>
                    <a:lnR>
                      <a:noFill/>
                    </a:lnR>
                    <a:lnT>
                      <a:noFill/>
                    </a:lnT>
                    <a:lnB>
                      <a:noFill/>
                    </a:lnB>
                    <a:noFill/>
                  </a:tcPr>
                </a:tc>
                <a:extLst>
                  <a:ext uri="{0D108BD9-81ED-4DB2-BD59-A6C34878D82A}">
                    <a16:rowId xmlns:a16="http://schemas.microsoft.com/office/drawing/2014/main" val="2646795276"/>
                  </a:ext>
                </a:extLst>
              </a:tr>
              <a:tr h="0">
                <a:tc>
                  <a:txBody>
                    <a:bodyPr/>
                    <a:lstStyle/>
                    <a:p>
                      <a:r>
                        <a:rPr lang="en-US" sz="9600" b="1" i="0" dirty="0">
                          <a:solidFill>
                            <a:srgbClr val="FF0000"/>
                          </a:solidFill>
                          <a:effectLst/>
                          <a:latin typeface="Garamond" panose="02020404030301010803" pitchFamily="18" charset="0"/>
                        </a:rPr>
                        <a:t>Executing</a:t>
                      </a:r>
                      <a:endParaRPr lang="en-US" sz="9600" b="1" dirty="0">
                        <a:solidFill>
                          <a:srgbClr val="FF0000"/>
                        </a:solidFill>
                        <a:effectLst/>
                        <a:latin typeface="Garamond" panose="02020404030301010803" pitchFamily="18" charset="0"/>
                      </a:endParaRPr>
                    </a:p>
                  </a:txBody>
                  <a:tcPr anchor="ctr">
                    <a:lnL>
                      <a:noFill/>
                    </a:lnL>
                    <a:lnR>
                      <a:noFill/>
                    </a:lnR>
                    <a:lnT>
                      <a:noFill/>
                    </a:lnT>
                    <a:lnB>
                      <a:noFill/>
                    </a:lnB>
                    <a:noFill/>
                  </a:tcPr>
                </a:tc>
                <a:extLst>
                  <a:ext uri="{0D108BD9-81ED-4DB2-BD59-A6C34878D82A}">
                    <a16:rowId xmlns:a16="http://schemas.microsoft.com/office/drawing/2014/main" val="3257645592"/>
                  </a:ext>
                </a:extLst>
              </a:tr>
            </a:tbl>
          </a:graphicData>
        </a:graphic>
      </p:graphicFrame>
      <p:sp>
        <p:nvSpPr>
          <p:cNvPr id="5" name="Rectangle 1">
            <a:extLst>
              <a:ext uri="{FF2B5EF4-FFF2-40B4-BE49-F238E27FC236}">
                <a16:creationId xmlns:a16="http://schemas.microsoft.com/office/drawing/2014/main" id="{FD77A6AE-E70F-CBB8-BFBB-ECC89A984338}"/>
              </a:ext>
            </a:extLst>
          </p:cNvPr>
          <p:cNvSpPr>
            <a:spLocks noGrp="1" noChangeArrowheads="1"/>
          </p:cNvSpPr>
          <p:nvPr>
            <p:ph type="ctrTitle"/>
          </p:nvPr>
        </p:nvSpPr>
        <p:spPr bwMode="auto">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656866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8163B885-7AF4-9B50-2AA2-ECF1113CD3A3}"/>
              </a:ext>
            </a:extLst>
          </p:cNvPr>
          <p:cNvSpPr txBox="1"/>
          <p:nvPr/>
        </p:nvSpPr>
        <p:spPr>
          <a:xfrm>
            <a:off x="379430" y="380941"/>
            <a:ext cx="8689156" cy="707886"/>
          </a:xfrm>
          <a:prstGeom prst="rect">
            <a:avLst/>
          </a:prstGeom>
          <a:noFill/>
        </p:spPr>
        <p:txBody>
          <a:bodyPr wrap="square">
            <a:spAutoFit/>
          </a:bodyPr>
          <a:lstStyle/>
          <a:p>
            <a:r>
              <a:rPr lang="en-US" sz="4000" b="1" dirty="0">
                <a:solidFill>
                  <a:srgbClr val="FF0000"/>
                </a:solidFill>
                <a:effectLst/>
                <a:latin typeface="Garamond" panose="02020404030301010803" pitchFamily="18" charset="0"/>
              </a:rPr>
              <a:t>Direct and Manage Project Execution</a:t>
            </a:r>
          </a:p>
        </p:txBody>
      </p:sp>
      <p:sp>
        <p:nvSpPr>
          <p:cNvPr id="4" name="TextBox 3">
            <a:extLst>
              <a:ext uri="{FF2B5EF4-FFF2-40B4-BE49-F238E27FC236}">
                <a16:creationId xmlns:a16="http://schemas.microsoft.com/office/drawing/2014/main" id="{A2FB865A-C97F-91D8-B896-DE16B9A534C3}"/>
              </a:ext>
            </a:extLst>
          </p:cNvPr>
          <p:cNvSpPr txBox="1"/>
          <p:nvPr/>
        </p:nvSpPr>
        <p:spPr>
          <a:xfrm>
            <a:off x="379430" y="1312039"/>
            <a:ext cx="9127503" cy="3785652"/>
          </a:xfrm>
          <a:prstGeom prst="rect">
            <a:avLst/>
          </a:prstGeom>
          <a:noFill/>
        </p:spPr>
        <p:txBody>
          <a:bodyPr wrap="square">
            <a:spAutoFit/>
          </a:bodyPr>
          <a:lstStyle/>
          <a:p>
            <a:pPr>
              <a:buNone/>
            </a:pPr>
            <a:r>
              <a:rPr lang="en-US" sz="2400" b="1" dirty="0">
                <a:solidFill>
                  <a:srgbClr val="FF0000"/>
                </a:solidFill>
                <a:latin typeface="Times New Roman" panose="02020603050405020304" pitchFamily="18" charset="0"/>
                <a:cs typeface="Times New Roman" panose="02020603050405020304" pitchFamily="18" charset="0"/>
              </a:rPr>
              <a:t>Direct and Manage Project Execution</a:t>
            </a:r>
            <a:endParaRPr lang="en-US" sz="2400" dirty="0">
              <a:solidFill>
                <a:srgbClr val="FF0000"/>
              </a:solidFill>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Focuses on integrating all project work to achieve the project management plan and deliverables </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Involves implementing approved change requests and managing execution activities </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Requires continuous coordination of resources and tasks </a:t>
            </a:r>
          </a:p>
          <a:p>
            <a:endParaRPr lang="en-US" sz="2400" dirty="0">
              <a:latin typeface="Times New Roman" panose="02020603050405020304" pitchFamily="18" charset="0"/>
              <a:cs typeface="Times New Roman" panose="02020603050405020304" pitchFamily="18" charset="0"/>
            </a:endParaRPr>
          </a:p>
          <a:p>
            <a:pPr>
              <a:buNone/>
            </a:pPr>
            <a:r>
              <a:rPr lang="en-US" sz="2400" b="1" dirty="0">
                <a:solidFill>
                  <a:srgbClr val="FF0000"/>
                </a:solidFill>
                <a:latin typeface="Times New Roman" panose="02020603050405020304" pitchFamily="18" charset="0"/>
                <a:cs typeface="Times New Roman" panose="02020603050405020304" pitchFamily="18" charset="0"/>
              </a:rPr>
              <a:t>Key Insight</a:t>
            </a:r>
            <a:endParaRPr lang="en-US" sz="2400" dirty="0">
              <a:solidFill>
                <a:srgbClr val="FF0000"/>
              </a:solidFill>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This process, along with </a:t>
            </a:r>
            <a:r>
              <a:rPr lang="en-US" sz="2400" i="1" dirty="0">
                <a:latin typeface="Times New Roman" panose="02020603050405020304" pitchFamily="18" charset="0"/>
                <a:cs typeface="Times New Roman" panose="02020603050405020304" pitchFamily="18" charset="0"/>
              </a:rPr>
              <a:t>Monitor and Control Project Work</a:t>
            </a:r>
            <a:r>
              <a:rPr lang="en-US" sz="2400" dirty="0">
                <a:latin typeface="Times New Roman" panose="02020603050405020304" pitchFamily="18" charset="0"/>
                <a:cs typeface="Times New Roman" panose="02020603050405020304" pitchFamily="18" charset="0"/>
              </a:rPr>
              <a:t>, demands significant effort throughout the project lifecycle</a:t>
            </a:r>
          </a:p>
        </p:txBody>
      </p:sp>
    </p:spTree>
    <p:extLst>
      <p:ext uri="{BB962C8B-B14F-4D97-AF65-F5344CB8AC3E}">
        <p14:creationId xmlns:p14="http://schemas.microsoft.com/office/powerpoint/2010/main" val="68078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2661410-A4DB-A23D-0F2B-23FE1D3140AF}"/>
              </a:ext>
            </a:extLst>
          </p:cNvPr>
          <p:cNvSpPr txBox="1"/>
          <p:nvPr/>
        </p:nvSpPr>
        <p:spPr>
          <a:xfrm>
            <a:off x="737649" y="1275052"/>
            <a:ext cx="8029280" cy="3903954"/>
          </a:xfrm>
          <a:prstGeom prst="rect">
            <a:avLst/>
          </a:prstGeom>
          <a:noFill/>
        </p:spPr>
        <p:txBody>
          <a:bodyPr wrap="square">
            <a:spAutoFit/>
          </a:bodyPr>
          <a:lstStyle/>
          <a:p>
            <a:pPr algn="just">
              <a:lnSpc>
                <a:spcPct val="150000"/>
              </a:lnSpc>
            </a:pPr>
            <a:r>
              <a:rPr lang="en-US" sz="2400" dirty="0">
                <a:effectLst/>
                <a:latin typeface="Times New Roman" panose="02020603050405020304" pitchFamily="18" charset="0"/>
                <a:cs typeface="Times New Roman" panose="02020603050405020304" pitchFamily="18" charset="0"/>
              </a:rPr>
              <a:t>Direct and managed project Execution process involves:</a:t>
            </a:r>
          </a:p>
          <a:p>
            <a:pPr algn="just">
              <a:lnSpc>
                <a:spcPct val="150000"/>
              </a:lnSpc>
              <a:buFont typeface="Arial" panose="020B0604020202020204" pitchFamily="34" charset="0"/>
              <a:buChar char="•"/>
            </a:pPr>
            <a:r>
              <a:rPr lang="en-US" sz="2400" dirty="0">
                <a:effectLst/>
                <a:latin typeface="Times New Roman" panose="02020603050405020304" pitchFamily="18" charset="0"/>
                <a:cs typeface="Times New Roman" panose="02020603050405020304" pitchFamily="18" charset="0"/>
              </a:rPr>
              <a:t>Managing project members/stakeholders/others</a:t>
            </a:r>
          </a:p>
          <a:p>
            <a:pPr algn="just">
              <a:lnSpc>
                <a:spcPct val="150000"/>
              </a:lnSpc>
              <a:buFont typeface="Arial" panose="020B0604020202020204" pitchFamily="34" charset="0"/>
              <a:buChar char="•"/>
            </a:pPr>
            <a:r>
              <a:rPr lang="en-US" sz="2400" dirty="0">
                <a:effectLst/>
                <a:latin typeface="Times New Roman" panose="02020603050405020304" pitchFamily="18" charset="0"/>
                <a:cs typeface="Times New Roman" panose="02020603050405020304" pitchFamily="18" charset="0"/>
              </a:rPr>
              <a:t>Executing tasks</a:t>
            </a:r>
          </a:p>
          <a:p>
            <a:pPr algn="just">
              <a:lnSpc>
                <a:spcPct val="150000"/>
              </a:lnSpc>
              <a:buFont typeface="Arial" panose="020B0604020202020204" pitchFamily="34" charset="0"/>
              <a:buChar char="•"/>
            </a:pPr>
            <a:r>
              <a:rPr lang="en-US" sz="2400" dirty="0">
                <a:effectLst/>
                <a:latin typeface="Times New Roman" panose="02020603050405020304" pitchFamily="18" charset="0"/>
                <a:cs typeface="Times New Roman" panose="02020603050405020304" pitchFamily="18" charset="0"/>
              </a:rPr>
              <a:t>Process improvements</a:t>
            </a:r>
          </a:p>
          <a:p>
            <a:pPr algn="just">
              <a:lnSpc>
                <a:spcPct val="150000"/>
              </a:lnSpc>
              <a:buFont typeface="Arial" panose="020B0604020202020204" pitchFamily="34" charset="0"/>
              <a:buChar char="•"/>
            </a:pPr>
            <a:r>
              <a:rPr lang="en-US" sz="2400" dirty="0">
                <a:effectLst/>
                <a:latin typeface="Times New Roman" panose="02020603050405020304" pitchFamily="18" charset="0"/>
                <a:cs typeface="Times New Roman" panose="02020603050405020304" pitchFamily="18" charset="0"/>
              </a:rPr>
              <a:t>Change management</a:t>
            </a:r>
          </a:p>
          <a:p>
            <a:pPr algn="just">
              <a:lnSpc>
                <a:spcPct val="150000"/>
              </a:lnSpc>
              <a:buFont typeface="Arial" panose="020B0604020202020204" pitchFamily="34" charset="0"/>
              <a:buChar char="•"/>
            </a:pPr>
            <a:r>
              <a:rPr lang="en-US" sz="2400" dirty="0">
                <a:effectLst/>
                <a:latin typeface="Times New Roman" panose="02020603050405020304" pitchFamily="18" charset="0"/>
                <a:cs typeface="Times New Roman" panose="02020603050405020304" pitchFamily="18" charset="0"/>
              </a:rPr>
              <a:t>Helping the team to get the work completed</a:t>
            </a:r>
          </a:p>
          <a:p>
            <a:pPr algn="just">
              <a:lnSpc>
                <a:spcPct val="150000"/>
              </a:lnSpc>
              <a:buFont typeface="Arial" panose="020B0604020202020204" pitchFamily="34" charset="0"/>
              <a:buChar char="•"/>
            </a:pPr>
            <a:r>
              <a:rPr lang="en-US" sz="2400" dirty="0">
                <a:effectLst/>
                <a:latin typeface="Times New Roman" panose="02020603050405020304" pitchFamily="18" charset="0"/>
                <a:cs typeface="Times New Roman" panose="02020603050405020304" pitchFamily="18" charset="0"/>
              </a:rPr>
              <a:t>Ensuring the team is calibrated, focused and informed</a:t>
            </a:r>
          </a:p>
        </p:txBody>
      </p:sp>
      <p:sp>
        <p:nvSpPr>
          <p:cNvPr id="9" name="TextBox 8">
            <a:extLst>
              <a:ext uri="{FF2B5EF4-FFF2-40B4-BE49-F238E27FC236}">
                <a16:creationId xmlns:a16="http://schemas.microsoft.com/office/drawing/2014/main" id="{406532E4-5816-1481-352C-ACC5A1A046EF}"/>
              </a:ext>
            </a:extLst>
          </p:cNvPr>
          <p:cNvSpPr txBox="1"/>
          <p:nvPr/>
        </p:nvSpPr>
        <p:spPr>
          <a:xfrm>
            <a:off x="181467" y="415932"/>
            <a:ext cx="8029280" cy="584775"/>
          </a:xfrm>
          <a:prstGeom prst="rect">
            <a:avLst/>
          </a:prstGeom>
          <a:noFill/>
        </p:spPr>
        <p:txBody>
          <a:bodyPr wrap="square">
            <a:spAutoFit/>
          </a:bodyPr>
          <a:lstStyle/>
          <a:p>
            <a:r>
              <a:rPr lang="en-US" sz="3200" b="1" dirty="0">
                <a:solidFill>
                  <a:srgbClr val="FF0000"/>
                </a:solidFill>
                <a:effectLst/>
                <a:latin typeface="Garamond" panose="02020404030301010803" pitchFamily="18" charset="0"/>
              </a:rPr>
              <a:t>Direct and Manage Project Execution (</a:t>
            </a:r>
            <a:r>
              <a:rPr lang="en-US" sz="3200" b="1" dirty="0" err="1">
                <a:solidFill>
                  <a:srgbClr val="FF0000"/>
                </a:solidFill>
                <a:effectLst/>
                <a:latin typeface="Garamond" panose="02020404030301010803" pitchFamily="18" charset="0"/>
              </a:rPr>
              <a:t>Cont</a:t>
            </a:r>
            <a:r>
              <a:rPr lang="en-US" sz="3200" b="1" dirty="0">
                <a:solidFill>
                  <a:srgbClr val="FF0000"/>
                </a:solidFill>
                <a:effectLst/>
                <a:latin typeface="Garamond" panose="02020404030301010803" pitchFamily="18" charset="0"/>
              </a:rPr>
              <a:t>)</a:t>
            </a:r>
          </a:p>
        </p:txBody>
      </p:sp>
    </p:spTree>
    <p:extLst>
      <p:ext uri="{BB962C8B-B14F-4D97-AF65-F5344CB8AC3E}">
        <p14:creationId xmlns:p14="http://schemas.microsoft.com/office/powerpoint/2010/main" val="1083323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FDC3E8D-2902-8926-8EA1-52012C8CDDDC}"/>
              </a:ext>
            </a:extLst>
          </p:cNvPr>
          <p:cNvSpPr txBox="1"/>
          <p:nvPr/>
        </p:nvSpPr>
        <p:spPr>
          <a:xfrm>
            <a:off x="489687" y="1623885"/>
            <a:ext cx="8971960" cy="3349956"/>
          </a:xfrm>
          <a:prstGeom prst="rect">
            <a:avLst/>
          </a:prstGeom>
          <a:noFill/>
        </p:spPr>
        <p:txBody>
          <a:bodyPr wrap="square">
            <a:spAutoFit/>
          </a:bodyPr>
          <a:lstStyle/>
          <a:p>
            <a:pPr algn="just">
              <a:lnSpc>
                <a:spcPct val="150000"/>
              </a:lnSpc>
            </a:pPr>
            <a:r>
              <a:rPr lang="en-US" sz="2400" dirty="0">
                <a:effectLst/>
                <a:latin typeface="Times New Roman" panose="02020603050405020304" pitchFamily="18" charset="0"/>
                <a:cs typeface="Times New Roman" panose="02020603050405020304" pitchFamily="18" charset="0"/>
              </a:rPr>
              <a:t>In the indirect and Manage Project Execution process, the role of a project manager involves:</a:t>
            </a:r>
          </a:p>
          <a:p>
            <a:pPr algn="just">
              <a:lnSpc>
                <a:spcPct val="150000"/>
              </a:lnSpc>
              <a:buFont typeface="Arial" panose="020B0604020202020204" pitchFamily="34" charset="0"/>
              <a:buChar char="•"/>
            </a:pPr>
            <a:r>
              <a:rPr lang="en-US" sz="2400" dirty="0">
                <a:effectLst/>
                <a:latin typeface="Times New Roman" panose="02020603050405020304" pitchFamily="18" charset="0"/>
                <a:cs typeface="Times New Roman" panose="02020603050405020304" pitchFamily="18" charset="0"/>
              </a:rPr>
              <a:t>Effective facilitation</a:t>
            </a:r>
          </a:p>
          <a:p>
            <a:pPr algn="just">
              <a:lnSpc>
                <a:spcPct val="150000"/>
              </a:lnSpc>
              <a:buFont typeface="Arial" panose="020B0604020202020204" pitchFamily="34" charset="0"/>
              <a:buChar char="•"/>
            </a:pPr>
            <a:r>
              <a:rPr lang="en-US" sz="2400" dirty="0">
                <a:effectLst/>
                <a:latin typeface="Times New Roman" panose="02020603050405020304" pitchFamily="18" charset="0"/>
                <a:cs typeface="Times New Roman" panose="02020603050405020304" pitchFamily="18" charset="0"/>
              </a:rPr>
              <a:t>Effective communication</a:t>
            </a:r>
          </a:p>
          <a:p>
            <a:pPr algn="just">
              <a:lnSpc>
                <a:spcPct val="150000"/>
              </a:lnSpc>
              <a:buFont typeface="Arial" panose="020B0604020202020204" pitchFamily="34" charset="0"/>
              <a:buChar char="•"/>
            </a:pPr>
            <a:r>
              <a:rPr lang="en-US" sz="2400" dirty="0">
                <a:effectLst/>
                <a:latin typeface="Times New Roman" panose="02020603050405020304" pitchFamily="18" charset="0"/>
                <a:cs typeface="Times New Roman" panose="02020603050405020304" pitchFamily="18" charset="0"/>
              </a:rPr>
              <a:t>Keep the project on track as per the schedule</a:t>
            </a:r>
          </a:p>
          <a:p>
            <a:pPr algn="just">
              <a:lnSpc>
                <a:spcPct val="150000"/>
              </a:lnSpc>
              <a:buFont typeface="Arial" panose="020B0604020202020204" pitchFamily="34" charset="0"/>
              <a:buChar char="•"/>
            </a:pPr>
            <a:r>
              <a:rPr lang="en-US" sz="2400" dirty="0">
                <a:effectLst/>
                <a:latin typeface="Times New Roman" panose="02020603050405020304" pitchFamily="18" charset="0"/>
                <a:cs typeface="Times New Roman" panose="02020603050405020304" pitchFamily="18" charset="0"/>
              </a:rPr>
              <a:t>Increase efficiency by performing process improvements</a:t>
            </a:r>
          </a:p>
        </p:txBody>
      </p:sp>
      <p:sp>
        <p:nvSpPr>
          <p:cNvPr id="6" name="TextBox 5">
            <a:extLst>
              <a:ext uri="{FF2B5EF4-FFF2-40B4-BE49-F238E27FC236}">
                <a16:creationId xmlns:a16="http://schemas.microsoft.com/office/drawing/2014/main" id="{828E24E5-2FF6-342F-7FDA-DB5DC2133CBC}"/>
              </a:ext>
            </a:extLst>
          </p:cNvPr>
          <p:cNvSpPr txBox="1"/>
          <p:nvPr/>
        </p:nvSpPr>
        <p:spPr>
          <a:xfrm>
            <a:off x="489687" y="654318"/>
            <a:ext cx="8644885" cy="584775"/>
          </a:xfrm>
          <a:prstGeom prst="rect">
            <a:avLst/>
          </a:prstGeom>
          <a:noFill/>
        </p:spPr>
        <p:txBody>
          <a:bodyPr wrap="square">
            <a:spAutoFit/>
          </a:bodyPr>
          <a:lstStyle/>
          <a:p>
            <a:r>
              <a:rPr lang="en-US" sz="3200" b="1" dirty="0">
                <a:solidFill>
                  <a:srgbClr val="FF0000"/>
                </a:solidFill>
                <a:effectLst/>
                <a:latin typeface="Garamond" panose="02020404030301010803" pitchFamily="18" charset="0"/>
              </a:rPr>
              <a:t>Direct and Manage Project Execution (</a:t>
            </a:r>
            <a:r>
              <a:rPr lang="en-US" sz="3200" b="1" dirty="0" err="1">
                <a:solidFill>
                  <a:srgbClr val="FF0000"/>
                </a:solidFill>
                <a:effectLst/>
                <a:latin typeface="Garamond" panose="02020404030301010803" pitchFamily="18" charset="0"/>
              </a:rPr>
              <a:t>Cont</a:t>
            </a:r>
            <a:r>
              <a:rPr lang="en-US" sz="3200" b="1" dirty="0">
                <a:solidFill>
                  <a:srgbClr val="FF0000"/>
                </a:solidFill>
                <a:effectLst/>
                <a:latin typeface="Garamond" panose="02020404030301010803" pitchFamily="18" charset="0"/>
              </a:rPr>
              <a:t>)</a:t>
            </a:r>
          </a:p>
        </p:txBody>
      </p:sp>
    </p:spTree>
    <p:extLst>
      <p:ext uri="{BB962C8B-B14F-4D97-AF65-F5344CB8AC3E}">
        <p14:creationId xmlns:p14="http://schemas.microsoft.com/office/powerpoint/2010/main" val="1212544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089485-AFE2-1F6D-731E-1919D2F80041}"/>
              </a:ext>
            </a:extLst>
          </p:cNvPr>
          <p:cNvSpPr>
            <a:spLocks noGrp="1"/>
          </p:cNvSpPr>
          <p:nvPr>
            <p:ph type="title"/>
          </p:nvPr>
        </p:nvSpPr>
        <p:spPr>
          <a:xfrm>
            <a:off x="329152" y="274221"/>
            <a:ext cx="8596668" cy="1320800"/>
          </a:xfrm>
        </p:spPr>
        <p:txBody>
          <a:bodyPr>
            <a:noAutofit/>
          </a:bodyPr>
          <a:lstStyle/>
          <a:p>
            <a:r>
              <a:rPr lang="en-US" sz="4000" b="1" dirty="0">
                <a:solidFill>
                  <a:srgbClr val="FF0000"/>
                </a:solidFill>
                <a:latin typeface="Garamond" panose="02020404030301010803" pitchFamily="18" charset="0"/>
              </a:rPr>
              <a:t>Benefits of directing and managing project work</a:t>
            </a:r>
            <a:br>
              <a:rPr lang="en-US" sz="4000" b="1" dirty="0">
                <a:latin typeface="Garamond" panose="02020404030301010803" pitchFamily="18" charset="0"/>
              </a:rPr>
            </a:br>
            <a:endParaRPr lang="en-US" sz="4000" dirty="0">
              <a:latin typeface="Garamond" panose="02020404030301010803" pitchFamily="18" charset="0"/>
            </a:endParaRPr>
          </a:p>
        </p:txBody>
      </p:sp>
      <p:sp>
        <p:nvSpPr>
          <p:cNvPr id="5" name="TextBox 4">
            <a:extLst>
              <a:ext uri="{FF2B5EF4-FFF2-40B4-BE49-F238E27FC236}">
                <a16:creationId xmlns:a16="http://schemas.microsoft.com/office/drawing/2014/main" id="{69727F1A-1156-8395-BB8E-125F7DC3C284}"/>
              </a:ext>
            </a:extLst>
          </p:cNvPr>
          <p:cNvSpPr txBox="1"/>
          <p:nvPr/>
        </p:nvSpPr>
        <p:spPr>
          <a:xfrm>
            <a:off x="432847" y="1756076"/>
            <a:ext cx="8937396" cy="4801314"/>
          </a:xfrm>
          <a:prstGeom prst="rect">
            <a:avLst/>
          </a:prstGeom>
          <a:noFill/>
        </p:spPr>
        <p:txBody>
          <a:bodyPr wrap="square">
            <a:spAutoFit/>
          </a:bodyPr>
          <a:lstStyle/>
          <a:p>
            <a:pPr algn="just">
              <a:lnSpc>
                <a:spcPct val="150000"/>
              </a:lnSpc>
            </a:pPr>
            <a:r>
              <a:rPr lang="en-US" sz="2000" dirty="0">
                <a:latin typeface="Times New Roman" panose="02020603050405020304" pitchFamily="18" charset="0"/>
                <a:cs typeface="Times New Roman" panose="02020603050405020304" pitchFamily="18" charset="0"/>
              </a:rPr>
              <a:t>Here are the benefits of directing and managing project work: </a:t>
            </a:r>
            <a:r>
              <a:rPr lang="en-US" sz="2000" b="1" dirty="0">
                <a:latin typeface="Times New Roman" panose="02020603050405020304" pitchFamily="18" charset="0"/>
                <a:cs typeface="Times New Roman" panose="02020603050405020304" pitchFamily="18" charset="0"/>
              </a:rPr>
              <a:t>Allows project managers to track each deliverable.</a:t>
            </a:r>
            <a:r>
              <a:rPr lang="en-US" sz="2000" dirty="0">
                <a:latin typeface="Times New Roman" panose="02020603050405020304" pitchFamily="18" charset="0"/>
                <a:cs typeface="Times New Roman" panose="02020603050405020304" pitchFamily="18" charset="0"/>
              </a:rPr>
              <a:t> This can help control and reallocate unused resources to other sub-plans. It can also help verify that each deliverable aligns with the project objectives and the overall plan.</a:t>
            </a:r>
          </a:p>
          <a:p>
            <a:pPr algn="just">
              <a:lnSpc>
                <a:spcPct val="150000"/>
              </a:lnSpc>
            </a:pPr>
            <a:br>
              <a:rPr lang="en-US" sz="2000"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Prepare team members to apply changes. </a:t>
            </a:r>
            <a:r>
              <a:rPr lang="en-US" sz="2000" dirty="0">
                <a:latin typeface="Times New Roman" panose="02020603050405020304" pitchFamily="18" charset="0"/>
                <a:cs typeface="Times New Roman" panose="02020603050405020304" pitchFamily="18" charset="0"/>
              </a:rPr>
              <a:t>Using this method helps team members have guidelines and standards they can follow when the client or upper management introduces unexpected changes. Team members may feel confident and prepared to handle these changes and produce a quality deliverable.</a:t>
            </a:r>
          </a:p>
          <a:p>
            <a:br>
              <a:rPr lang="en-US" dirty="0"/>
            </a:br>
            <a:endParaRPr lang="en-US" dirty="0"/>
          </a:p>
        </p:txBody>
      </p:sp>
    </p:spTree>
    <p:extLst>
      <p:ext uri="{BB962C8B-B14F-4D97-AF65-F5344CB8AC3E}">
        <p14:creationId xmlns:p14="http://schemas.microsoft.com/office/powerpoint/2010/main" val="3235656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55CBE85-494A-C309-930A-C98E97CF45F0}"/>
              </a:ext>
            </a:extLst>
          </p:cNvPr>
          <p:cNvSpPr txBox="1"/>
          <p:nvPr/>
        </p:nvSpPr>
        <p:spPr>
          <a:xfrm>
            <a:off x="0" y="1881815"/>
            <a:ext cx="9292473" cy="4191981"/>
          </a:xfrm>
          <a:prstGeom prst="rect">
            <a:avLst/>
          </a:prstGeom>
          <a:noFill/>
        </p:spPr>
        <p:txBody>
          <a:bodyPr wrap="square">
            <a:spAutoFit/>
          </a:bodyPr>
          <a:lstStyle/>
          <a:p>
            <a:pPr lvl="1" algn="just">
              <a:lnSpc>
                <a:spcPct val="150000"/>
              </a:lnSpc>
            </a:pPr>
            <a:r>
              <a:rPr lang="en-US" sz="2000" b="1" dirty="0">
                <a:latin typeface="Times New Roman" panose="02020603050405020304" pitchFamily="18" charset="0"/>
                <a:cs typeface="Times New Roman" panose="02020603050405020304" pitchFamily="18" charset="0"/>
              </a:rPr>
              <a:t>Ensure quality. </a:t>
            </a:r>
            <a:r>
              <a:rPr lang="en-US" sz="2000" dirty="0">
                <a:latin typeface="Times New Roman" panose="02020603050405020304" pitchFamily="18" charset="0"/>
                <a:cs typeface="Times New Roman" panose="02020603050405020304" pitchFamily="18" charset="0"/>
              </a:rPr>
              <a:t>This process helps project managers follow quality assurance procedures and assists them in guiding team members on how to execute their activities without sacrificing quality. It can also help them identify the root cause of quality issues and address them in the specific project phase where they arise.</a:t>
            </a:r>
          </a:p>
          <a:p>
            <a:pPr lvl="1" algn="just">
              <a:lnSpc>
                <a:spcPct val="150000"/>
              </a:lnSpc>
            </a:pPr>
            <a:br>
              <a:rPr lang="en-US" sz="2000"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Helps other project managers within the organization. </a:t>
            </a:r>
            <a:r>
              <a:rPr lang="en-US" sz="2000" dirty="0">
                <a:latin typeface="Times New Roman" panose="02020603050405020304" pitchFamily="18" charset="0"/>
                <a:cs typeface="Times New Roman" panose="02020603050405020304" pitchFamily="18" charset="0"/>
              </a:rPr>
              <a:t>As this process entails registering all the project's details, other project managers can use the log to learn from the project's experience and the way the team reached success. It can also help them make decisions and establish criteria for their projects.</a:t>
            </a:r>
          </a:p>
        </p:txBody>
      </p:sp>
      <p:sp>
        <p:nvSpPr>
          <p:cNvPr id="7" name="TextBox 6">
            <a:extLst>
              <a:ext uri="{FF2B5EF4-FFF2-40B4-BE49-F238E27FC236}">
                <a16:creationId xmlns:a16="http://schemas.microsoft.com/office/drawing/2014/main" id="{EDEC8EFA-6394-72F6-92C0-E56D89535DF6}"/>
              </a:ext>
            </a:extLst>
          </p:cNvPr>
          <p:cNvSpPr txBox="1"/>
          <p:nvPr/>
        </p:nvSpPr>
        <p:spPr>
          <a:xfrm>
            <a:off x="412422" y="292383"/>
            <a:ext cx="8477053" cy="1323439"/>
          </a:xfrm>
          <a:prstGeom prst="rect">
            <a:avLst/>
          </a:prstGeom>
          <a:noFill/>
        </p:spPr>
        <p:txBody>
          <a:bodyPr wrap="square">
            <a:spAutoFit/>
          </a:bodyPr>
          <a:lstStyle/>
          <a:p>
            <a:r>
              <a:rPr lang="en-US" sz="4000" b="1" dirty="0">
                <a:solidFill>
                  <a:srgbClr val="FF0000"/>
                </a:solidFill>
                <a:latin typeface="Garamond" panose="02020404030301010803" pitchFamily="18" charset="0"/>
              </a:rPr>
              <a:t>Benefits of directing and managing project work (</a:t>
            </a:r>
            <a:r>
              <a:rPr lang="en-US" sz="4000" b="1" dirty="0" err="1">
                <a:solidFill>
                  <a:srgbClr val="FF0000"/>
                </a:solidFill>
                <a:latin typeface="Garamond" panose="02020404030301010803" pitchFamily="18" charset="0"/>
              </a:rPr>
              <a:t>Cont</a:t>
            </a:r>
            <a:r>
              <a:rPr lang="en-US" sz="4000" b="1" dirty="0">
                <a:solidFill>
                  <a:srgbClr val="FF0000"/>
                </a:solidFill>
                <a:latin typeface="Garamond" panose="02020404030301010803" pitchFamily="18" charset="0"/>
              </a:rPr>
              <a:t>)</a:t>
            </a:r>
            <a:endParaRPr lang="en-US" sz="4000" dirty="0">
              <a:latin typeface="Garamond" panose="02020404030301010803" pitchFamily="18" charset="0"/>
            </a:endParaRPr>
          </a:p>
        </p:txBody>
      </p:sp>
    </p:spTree>
    <p:extLst>
      <p:ext uri="{BB962C8B-B14F-4D97-AF65-F5344CB8AC3E}">
        <p14:creationId xmlns:p14="http://schemas.microsoft.com/office/powerpoint/2010/main" val="3982951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2FF476-81CF-5E79-A7D0-0DAEAAA994D1}"/>
              </a:ext>
            </a:extLst>
          </p:cNvPr>
          <p:cNvSpPr txBox="1"/>
          <p:nvPr/>
        </p:nvSpPr>
        <p:spPr>
          <a:xfrm>
            <a:off x="421849" y="1328304"/>
            <a:ext cx="8491194" cy="1883657"/>
          </a:xfrm>
          <a:prstGeom prst="rect">
            <a:avLst/>
          </a:prstGeom>
          <a:noFill/>
        </p:spPr>
        <p:txBody>
          <a:bodyPr wrap="square">
            <a:spAutoFit/>
          </a:bodyPr>
          <a:lstStyle/>
          <a:p>
            <a:pPr algn="just">
              <a:lnSpc>
                <a:spcPct val="150000"/>
              </a:lnSpc>
            </a:pPr>
            <a:r>
              <a:rPr lang="en-US" sz="2000" dirty="0">
                <a:latin typeface="Times New Roman" panose="02020603050405020304" pitchFamily="18" charset="0"/>
                <a:cs typeface="Times New Roman" panose="02020603050405020304" pitchFamily="18" charset="0"/>
              </a:rPr>
              <a:t>The</a:t>
            </a:r>
            <a:r>
              <a:rPr lang="en-US" sz="2000" b="1" dirty="0">
                <a:latin typeface="Times New Roman" panose="02020603050405020304" pitchFamily="18" charset="0"/>
                <a:cs typeface="Times New Roman" panose="02020603050405020304" pitchFamily="18" charset="0"/>
              </a:rPr>
              <a:t> process of acquiring project team</a:t>
            </a:r>
            <a:r>
              <a:rPr lang="en-US" sz="2000" dirty="0">
                <a:latin typeface="Times New Roman" panose="02020603050405020304" pitchFamily="18" charset="0"/>
                <a:cs typeface="Times New Roman" panose="02020603050405020304" pitchFamily="18" charset="0"/>
              </a:rPr>
              <a:t> is an activity that allows selecting and approving human resource availability according to the list of required skills and criteria for choosing human resource for the purpose of obtaining the team necessary to accomplish project work.</a:t>
            </a:r>
          </a:p>
        </p:txBody>
      </p:sp>
      <p:sp>
        <p:nvSpPr>
          <p:cNvPr id="7" name="TextBox 6">
            <a:extLst>
              <a:ext uri="{FF2B5EF4-FFF2-40B4-BE49-F238E27FC236}">
                <a16:creationId xmlns:a16="http://schemas.microsoft.com/office/drawing/2014/main" id="{D2B8BEB3-1EFB-0B15-04D1-606D4AC258EB}"/>
              </a:ext>
            </a:extLst>
          </p:cNvPr>
          <p:cNvSpPr txBox="1"/>
          <p:nvPr/>
        </p:nvSpPr>
        <p:spPr>
          <a:xfrm>
            <a:off x="370001" y="363903"/>
            <a:ext cx="8415780" cy="707886"/>
          </a:xfrm>
          <a:prstGeom prst="rect">
            <a:avLst/>
          </a:prstGeom>
          <a:noFill/>
        </p:spPr>
        <p:txBody>
          <a:bodyPr wrap="square">
            <a:spAutoFit/>
          </a:bodyPr>
          <a:lstStyle/>
          <a:p>
            <a:r>
              <a:rPr lang="en-US" sz="4000" b="1" dirty="0">
                <a:solidFill>
                  <a:srgbClr val="FF0000"/>
                </a:solidFill>
                <a:latin typeface="Garamond" panose="02020404030301010803" pitchFamily="18" charset="0"/>
              </a:rPr>
              <a:t>Criteria For Acquiring Project Team</a:t>
            </a:r>
          </a:p>
        </p:txBody>
      </p:sp>
      <p:sp>
        <p:nvSpPr>
          <p:cNvPr id="9" name="TextBox 8">
            <a:extLst>
              <a:ext uri="{FF2B5EF4-FFF2-40B4-BE49-F238E27FC236}">
                <a16:creationId xmlns:a16="http://schemas.microsoft.com/office/drawing/2014/main" id="{0BC1928D-0B42-0C34-13D6-32555A01F26E}"/>
              </a:ext>
            </a:extLst>
          </p:cNvPr>
          <p:cNvSpPr txBox="1"/>
          <p:nvPr/>
        </p:nvSpPr>
        <p:spPr>
          <a:xfrm>
            <a:off x="421849" y="3551218"/>
            <a:ext cx="8802278" cy="1421992"/>
          </a:xfrm>
          <a:prstGeom prst="rect">
            <a:avLst/>
          </a:prstGeom>
          <a:noFill/>
        </p:spPr>
        <p:txBody>
          <a:bodyPr wrap="square">
            <a:spAutoFit/>
          </a:bodyPr>
          <a:lstStyle/>
          <a:p>
            <a:pPr algn="just">
              <a:lnSpc>
                <a:spcPct val="150000"/>
              </a:lnSpc>
            </a:pPr>
            <a:r>
              <a:rPr lang="en-US" sz="2000" dirty="0">
                <a:latin typeface="Times New Roman" panose="02020603050405020304" pitchFamily="18" charset="0"/>
                <a:cs typeface="Times New Roman" panose="02020603050405020304" pitchFamily="18" charset="0"/>
              </a:rPr>
              <a:t>The process is managed by the project management team. The project manager is a person who has the authority to manage the recruiting process and decide on team members. </a:t>
            </a:r>
          </a:p>
        </p:txBody>
      </p:sp>
    </p:spTree>
    <p:extLst>
      <p:ext uri="{BB962C8B-B14F-4D97-AF65-F5344CB8AC3E}">
        <p14:creationId xmlns:p14="http://schemas.microsoft.com/office/powerpoint/2010/main" val="3473953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7C9BD2B-B6A8-C232-9FF6-0B952E2576B3}"/>
              </a:ext>
            </a:extLst>
          </p:cNvPr>
          <p:cNvSpPr txBox="1"/>
          <p:nvPr/>
        </p:nvSpPr>
        <p:spPr>
          <a:xfrm>
            <a:off x="421849" y="2347552"/>
            <a:ext cx="8613742" cy="2899320"/>
          </a:xfrm>
          <a:prstGeom prst="rect">
            <a:avLst/>
          </a:prstGeom>
          <a:noFill/>
        </p:spPr>
        <p:txBody>
          <a:bodyPr wrap="square">
            <a:spAutoFit/>
          </a:bodyPr>
          <a:lstStyle/>
          <a:p>
            <a:pPr algn="just">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Required level of experience in appropriate projects and activities. </a:t>
            </a:r>
            <a:r>
              <a:rPr lang="en-US" sz="2000" dirty="0">
                <a:latin typeface="Times New Roman" panose="02020603050405020304" pitchFamily="18" charset="0"/>
                <a:cs typeface="Times New Roman" panose="02020603050405020304" pitchFamily="18" charset="0"/>
              </a:rPr>
              <a:t>The project manager gathers all information about the current experience level of team members to compare it with the required experience level.</a:t>
            </a:r>
          </a:p>
          <a:p>
            <a:pPr algn="just">
              <a:lnSpc>
                <a:spcPct val="150000"/>
              </a:lnSpc>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lgn="just">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Interest level.</a:t>
            </a:r>
            <a:r>
              <a:rPr lang="en-US" sz="2000" dirty="0">
                <a:latin typeface="Times New Roman" panose="02020603050405020304" pitchFamily="18" charset="0"/>
                <a:cs typeface="Times New Roman" panose="02020603050405020304" pitchFamily="18" charset="0"/>
              </a:rPr>
              <a:t> The project manager defines whether a team member is interested in participating in the project and why.</a:t>
            </a:r>
          </a:p>
        </p:txBody>
      </p:sp>
      <p:sp>
        <p:nvSpPr>
          <p:cNvPr id="3" name="TextBox 2">
            <a:extLst>
              <a:ext uri="{FF2B5EF4-FFF2-40B4-BE49-F238E27FC236}">
                <a16:creationId xmlns:a16="http://schemas.microsoft.com/office/drawing/2014/main" id="{14D17233-6225-D122-44B5-74BD6DD4B70A}"/>
              </a:ext>
            </a:extLst>
          </p:cNvPr>
          <p:cNvSpPr txBox="1"/>
          <p:nvPr/>
        </p:nvSpPr>
        <p:spPr>
          <a:xfrm>
            <a:off x="497264" y="1070138"/>
            <a:ext cx="8250810" cy="960071"/>
          </a:xfrm>
          <a:prstGeom prst="rect">
            <a:avLst/>
          </a:prstGeom>
          <a:noFill/>
        </p:spPr>
        <p:txBody>
          <a:bodyPr wrap="square">
            <a:spAutoFit/>
          </a:bodyPr>
          <a:lstStyle/>
          <a:p>
            <a:pPr algn="just">
              <a:lnSpc>
                <a:spcPct val="150000"/>
              </a:lnSpc>
            </a:pPr>
            <a:r>
              <a:rPr lang="en-US" sz="2000" dirty="0">
                <a:latin typeface="Times New Roman" panose="02020603050405020304" pitchFamily="18" charset="0"/>
                <a:cs typeface="Times New Roman" panose="02020603050405020304" pitchFamily="18" charset="0"/>
              </a:rPr>
              <a:t>While selecting and deciding on team members, the following </a:t>
            </a:r>
            <a:r>
              <a:rPr lang="en-US" sz="2000" b="1" dirty="0">
                <a:latin typeface="Times New Roman" panose="02020603050405020304" pitchFamily="18" charset="0"/>
                <a:cs typeface="Times New Roman" panose="02020603050405020304" pitchFamily="18" charset="0"/>
              </a:rPr>
              <a:t>acquiring project team criteria</a:t>
            </a:r>
            <a:r>
              <a:rPr lang="en-US" sz="2000" dirty="0">
                <a:latin typeface="Times New Roman" panose="02020603050405020304" pitchFamily="18" charset="0"/>
                <a:cs typeface="Times New Roman" panose="02020603050405020304" pitchFamily="18" charset="0"/>
              </a:rPr>
              <a:t> should be considered:</a:t>
            </a:r>
            <a:endParaRPr lang="en-US" sz="2000" dirty="0"/>
          </a:p>
        </p:txBody>
      </p:sp>
      <p:sp>
        <p:nvSpPr>
          <p:cNvPr id="6" name="TextBox 5">
            <a:extLst>
              <a:ext uri="{FF2B5EF4-FFF2-40B4-BE49-F238E27FC236}">
                <a16:creationId xmlns:a16="http://schemas.microsoft.com/office/drawing/2014/main" id="{2CB6CB3D-C00A-E877-1D63-CEE647D5845A}"/>
              </a:ext>
            </a:extLst>
          </p:cNvPr>
          <p:cNvSpPr txBox="1"/>
          <p:nvPr/>
        </p:nvSpPr>
        <p:spPr>
          <a:xfrm>
            <a:off x="421849" y="441097"/>
            <a:ext cx="8005713" cy="584775"/>
          </a:xfrm>
          <a:prstGeom prst="rect">
            <a:avLst/>
          </a:prstGeom>
          <a:noFill/>
        </p:spPr>
        <p:txBody>
          <a:bodyPr wrap="square">
            <a:spAutoFit/>
          </a:bodyPr>
          <a:lstStyle/>
          <a:p>
            <a:r>
              <a:rPr lang="en-US" sz="3200" b="1" dirty="0">
                <a:solidFill>
                  <a:srgbClr val="FF0000"/>
                </a:solidFill>
                <a:latin typeface="Garamond" panose="02020404030301010803" pitchFamily="18" charset="0"/>
              </a:rPr>
              <a:t>Criteria For Acquiring Project Team (</a:t>
            </a:r>
            <a:r>
              <a:rPr lang="en-US" sz="3200" b="1" dirty="0" err="1">
                <a:solidFill>
                  <a:srgbClr val="FF0000"/>
                </a:solidFill>
                <a:latin typeface="Garamond" panose="02020404030301010803" pitchFamily="18" charset="0"/>
              </a:rPr>
              <a:t>Cont</a:t>
            </a:r>
            <a:r>
              <a:rPr lang="en-US" sz="3200" b="1" dirty="0">
                <a:solidFill>
                  <a:srgbClr val="FF0000"/>
                </a:solidFill>
                <a:latin typeface="Garamond" panose="02020404030301010803" pitchFamily="18" charset="0"/>
              </a:rPr>
              <a:t>)</a:t>
            </a:r>
          </a:p>
        </p:txBody>
      </p:sp>
    </p:spTree>
    <p:extLst>
      <p:ext uri="{BB962C8B-B14F-4D97-AF65-F5344CB8AC3E}">
        <p14:creationId xmlns:p14="http://schemas.microsoft.com/office/powerpoint/2010/main" val="549640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0BA18B1-B365-F883-AD72-D6912023581E}"/>
              </a:ext>
            </a:extLst>
          </p:cNvPr>
          <p:cNvSpPr txBox="1"/>
          <p:nvPr/>
        </p:nvSpPr>
        <p:spPr>
          <a:xfrm>
            <a:off x="318155" y="192406"/>
            <a:ext cx="8269664" cy="584775"/>
          </a:xfrm>
          <a:prstGeom prst="rect">
            <a:avLst/>
          </a:prstGeom>
          <a:noFill/>
        </p:spPr>
        <p:txBody>
          <a:bodyPr wrap="square">
            <a:spAutoFit/>
          </a:bodyPr>
          <a:lstStyle/>
          <a:p>
            <a:r>
              <a:rPr lang="en-US" sz="3200" b="1" dirty="0">
                <a:solidFill>
                  <a:srgbClr val="FF0000"/>
                </a:solidFill>
                <a:latin typeface="Garamond" panose="02020404030301010803" pitchFamily="18" charset="0"/>
              </a:rPr>
              <a:t>Criteria For Acquiring Project Team (</a:t>
            </a:r>
            <a:r>
              <a:rPr lang="en-US" sz="3200" b="1" dirty="0" err="1">
                <a:solidFill>
                  <a:srgbClr val="FF0000"/>
                </a:solidFill>
                <a:latin typeface="Garamond" panose="02020404030301010803" pitchFamily="18" charset="0"/>
              </a:rPr>
              <a:t>Cont</a:t>
            </a:r>
            <a:r>
              <a:rPr lang="en-US" sz="3200" b="1" dirty="0">
                <a:solidFill>
                  <a:srgbClr val="FF0000"/>
                </a:solidFill>
                <a:latin typeface="Garamond" panose="02020404030301010803" pitchFamily="18" charset="0"/>
              </a:rPr>
              <a:t>)</a:t>
            </a:r>
          </a:p>
        </p:txBody>
      </p:sp>
      <p:sp>
        <p:nvSpPr>
          <p:cNvPr id="7" name="TextBox 6">
            <a:extLst>
              <a:ext uri="{FF2B5EF4-FFF2-40B4-BE49-F238E27FC236}">
                <a16:creationId xmlns:a16="http://schemas.microsoft.com/office/drawing/2014/main" id="{0862013F-3080-94AD-A7E9-D03277463C5F}"/>
              </a:ext>
            </a:extLst>
          </p:cNvPr>
          <p:cNvSpPr txBox="1"/>
          <p:nvPr/>
        </p:nvSpPr>
        <p:spPr>
          <a:xfrm>
            <a:off x="318155" y="1031704"/>
            <a:ext cx="8618457" cy="4653646"/>
          </a:xfrm>
          <a:prstGeom prst="rect">
            <a:avLst/>
          </a:prstGeom>
          <a:noFill/>
        </p:spPr>
        <p:txBody>
          <a:bodyPr wrap="square">
            <a:spAutoFit/>
          </a:bodyPr>
          <a:lstStyle/>
          <a:p>
            <a:pPr algn="just">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Personal qualifications</a:t>
            </a:r>
            <a:r>
              <a:rPr lang="en-US" sz="2000" dirty="0">
                <a:latin typeface="Times New Roman" panose="02020603050405020304" pitchFamily="18" charset="0"/>
                <a:cs typeface="Times New Roman" panose="02020603050405020304" pitchFamily="18" charset="0"/>
              </a:rPr>
              <a:t>. Using interviews and questionnaires, the project manager looks at the personal skills and talents of team members and measures how this individual team member will work with other project team members.</a:t>
            </a:r>
          </a:p>
          <a:p>
            <a:pPr algn="just">
              <a:lnSpc>
                <a:spcPct val="150000"/>
              </a:lnSpc>
            </a:pPr>
            <a:endParaRPr lang="en-US" sz="2000" dirty="0">
              <a:latin typeface="Times New Roman" panose="02020603050405020304" pitchFamily="18" charset="0"/>
              <a:cs typeface="Times New Roman" panose="02020603050405020304" pitchFamily="18" charset="0"/>
            </a:endParaRPr>
          </a:p>
          <a:p>
            <a:pPr algn="just">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Availability. </a:t>
            </a:r>
            <a:r>
              <a:rPr lang="en-US" sz="2000" dirty="0">
                <a:latin typeface="Times New Roman" panose="02020603050405020304" pitchFamily="18" charset="0"/>
                <a:cs typeface="Times New Roman" panose="02020603050405020304" pitchFamily="18" charset="0"/>
              </a:rPr>
              <a:t>The project manager identifies whether the project team member desired for the project is available. The project manager should decide with functional managers on the availability of potential team members.</a:t>
            </a:r>
          </a:p>
          <a:p>
            <a:pPr algn="just">
              <a:lnSpc>
                <a:spcPct val="150000"/>
              </a:lnSpc>
            </a:pPr>
            <a:endParaRPr lang="en-US" sz="2000" dirty="0">
              <a:latin typeface="Times New Roman" panose="02020603050405020304" pitchFamily="18" charset="0"/>
              <a:cs typeface="Times New Roman" panose="02020603050405020304" pitchFamily="18" charset="0"/>
            </a:endParaRPr>
          </a:p>
          <a:p>
            <a:pPr algn="just">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Knowledge</a:t>
            </a:r>
            <a:r>
              <a:rPr lang="en-US" sz="2000" dirty="0">
                <a:latin typeface="Times New Roman" panose="02020603050405020304" pitchFamily="18" charset="0"/>
                <a:cs typeface="Times New Roman" panose="02020603050405020304" pitchFamily="18" charset="0"/>
              </a:rPr>
              <a:t>. The project manager identifies the competency and proficiency of available project team members.</a:t>
            </a:r>
          </a:p>
        </p:txBody>
      </p:sp>
    </p:spTree>
    <p:extLst>
      <p:ext uri="{BB962C8B-B14F-4D97-AF65-F5344CB8AC3E}">
        <p14:creationId xmlns:p14="http://schemas.microsoft.com/office/powerpoint/2010/main" val="428093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047180E-F6C8-BCD0-2CFF-2BB9C38318BA}"/>
              </a:ext>
            </a:extLst>
          </p:cNvPr>
          <p:cNvSpPr txBox="1"/>
          <p:nvPr/>
        </p:nvSpPr>
        <p:spPr>
          <a:xfrm>
            <a:off x="451306" y="497004"/>
            <a:ext cx="7953866" cy="584775"/>
          </a:xfrm>
          <a:prstGeom prst="rect">
            <a:avLst/>
          </a:prstGeom>
          <a:noFill/>
        </p:spPr>
        <p:txBody>
          <a:bodyPr wrap="square">
            <a:spAutoFit/>
          </a:bodyPr>
          <a:lstStyle/>
          <a:p>
            <a:r>
              <a:rPr lang="en-US" sz="3200" b="1" dirty="0">
                <a:solidFill>
                  <a:srgbClr val="FF0000"/>
                </a:solidFill>
                <a:latin typeface="Garamond" panose="02020404030301010803" pitchFamily="18" charset="0"/>
              </a:rPr>
              <a:t>Methods Of Acquiring Project Team </a:t>
            </a:r>
          </a:p>
        </p:txBody>
      </p:sp>
      <p:sp>
        <p:nvSpPr>
          <p:cNvPr id="7" name="TextBox 6">
            <a:extLst>
              <a:ext uri="{FF2B5EF4-FFF2-40B4-BE49-F238E27FC236}">
                <a16:creationId xmlns:a16="http://schemas.microsoft.com/office/drawing/2014/main" id="{D52C54C4-E078-4FF1-F8C5-28D15872C1C5}"/>
              </a:ext>
            </a:extLst>
          </p:cNvPr>
          <p:cNvSpPr txBox="1"/>
          <p:nvPr/>
        </p:nvSpPr>
        <p:spPr>
          <a:xfrm>
            <a:off x="417135" y="1445451"/>
            <a:ext cx="8642023" cy="1421992"/>
          </a:xfrm>
          <a:prstGeom prst="rect">
            <a:avLst/>
          </a:prstGeom>
          <a:noFill/>
        </p:spPr>
        <p:txBody>
          <a:bodyPr wrap="square">
            <a:spAutoFit/>
          </a:bodyPr>
          <a:lstStyle/>
          <a:p>
            <a:pPr algn="just">
              <a:lnSpc>
                <a:spcPct val="150000"/>
              </a:lnSpc>
            </a:pPr>
            <a:r>
              <a:rPr lang="en-US" sz="2000" dirty="0">
                <a:latin typeface="Times New Roman" panose="02020603050405020304" pitchFamily="18" charset="0"/>
                <a:cs typeface="Times New Roman" panose="02020603050405020304" pitchFamily="18" charset="0"/>
              </a:rPr>
              <a:t>By using the acquiring project team criteria, the project manager and members of the project management team select a method of team acquisition. There are several standard </a:t>
            </a:r>
            <a:r>
              <a:rPr lang="en-US" sz="2000" b="1" dirty="0">
                <a:latin typeface="Times New Roman" panose="02020603050405020304" pitchFamily="18" charset="0"/>
                <a:cs typeface="Times New Roman" panose="02020603050405020304" pitchFamily="18" charset="0"/>
              </a:rPr>
              <a:t>acquiring project team methods</a:t>
            </a:r>
            <a:r>
              <a:rPr lang="en-US" sz="2000" dirty="0">
                <a:latin typeface="Times New Roman" panose="02020603050405020304" pitchFamily="18" charset="0"/>
                <a:cs typeface="Times New Roman" panose="02020603050405020304" pitchFamily="18" charset="0"/>
              </a:rPr>
              <a:t>, including the following:</a:t>
            </a:r>
          </a:p>
        </p:txBody>
      </p:sp>
      <p:sp>
        <p:nvSpPr>
          <p:cNvPr id="9" name="TextBox 8">
            <a:extLst>
              <a:ext uri="{FF2B5EF4-FFF2-40B4-BE49-F238E27FC236}">
                <a16:creationId xmlns:a16="http://schemas.microsoft.com/office/drawing/2014/main" id="{9ED2E752-284B-3062-ACE4-49DB4802A422}"/>
              </a:ext>
            </a:extLst>
          </p:cNvPr>
          <p:cNvSpPr txBox="1"/>
          <p:nvPr/>
        </p:nvSpPr>
        <p:spPr>
          <a:xfrm>
            <a:off x="417134" y="3231115"/>
            <a:ext cx="8642023" cy="1883657"/>
          </a:xfrm>
          <a:prstGeom prst="rect">
            <a:avLst/>
          </a:prstGeom>
          <a:noFill/>
        </p:spPr>
        <p:txBody>
          <a:bodyPr wrap="square">
            <a:spAutoFit/>
          </a:bodyPr>
          <a:lstStyle/>
          <a:p>
            <a:pPr algn="just">
              <a:lnSpc>
                <a:spcPct val="150000"/>
              </a:lnSpc>
              <a:buFont typeface="Arial" panose="020B0604020202020204" pitchFamily="34" charset="0"/>
              <a:buChar char="•"/>
            </a:pPr>
            <a:r>
              <a:rPr lang="en-US" sz="2000" b="1" u="sng" dirty="0">
                <a:effectLst/>
                <a:latin typeface="Times New Roman" panose="02020603050405020304" pitchFamily="18" charset="0"/>
                <a:cs typeface="Times New Roman" panose="02020603050405020304" pitchFamily="18" charset="0"/>
              </a:rPr>
              <a:t>Method of pre-assignments</a:t>
            </a:r>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allows selecting team members in advance before the project starts. The method is used in situations when the implementation of a project depends on the expertise of specific people who deliver a competitive proposal to the project.</a:t>
            </a:r>
          </a:p>
        </p:txBody>
      </p:sp>
    </p:spTree>
    <p:extLst>
      <p:ext uri="{BB962C8B-B14F-4D97-AF65-F5344CB8AC3E}">
        <p14:creationId xmlns:p14="http://schemas.microsoft.com/office/powerpoint/2010/main" val="2155678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C1279B2-D52C-5C38-A150-FA6460CF88EA}"/>
              </a:ext>
            </a:extLst>
          </p:cNvPr>
          <p:cNvSpPr txBox="1"/>
          <p:nvPr/>
        </p:nvSpPr>
        <p:spPr>
          <a:xfrm>
            <a:off x="525543" y="1127870"/>
            <a:ext cx="8675017" cy="4930645"/>
          </a:xfrm>
          <a:prstGeom prst="rect">
            <a:avLst/>
          </a:prstGeom>
          <a:noFill/>
        </p:spPr>
        <p:txBody>
          <a:bodyPr wrap="square">
            <a:spAutoFit/>
          </a:bodyPr>
          <a:lstStyle/>
          <a:p>
            <a:pPr algn="just">
              <a:lnSpc>
                <a:spcPct val="150000"/>
              </a:lnSpc>
              <a:buFont typeface="Arial" panose="020B0604020202020204" pitchFamily="34" charset="0"/>
              <a:buChar char="•"/>
            </a:pPr>
            <a:r>
              <a:rPr lang="en-US" sz="2000" b="1" u="sng" dirty="0">
                <a:effectLst/>
                <a:latin typeface="Times New Roman" panose="02020603050405020304" pitchFamily="18" charset="0"/>
                <a:cs typeface="Times New Roman" panose="02020603050405020304" pitchFamily="18" charset="0"/>
              </a:rPr>
              <a:t>Method of virtual team building</a:t>
            </a:r>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is used when the whole project or a significant part of it is to be fulfilled by groups of people who carry out their roles and responsibilities with little or no time spent on face-to-face communication and collaboration. Virtual teams use electronic means of communication (such as email and video conferencing) to fulfill project tasks. </a:t>
            </a:r>
          </a:p>
          <a:p>
            <a:pPr algn="just">
              <a:buFont typeface="Arial" panose="020B0604020202020204" pitchFamily="34" charset="0"/>
              <a:buChar char="•"/>
            </a:pPr>
            <a:endParaRPr lang="en-US" dirty="0"/>
          </a:p>
          <a:p>
            <a:pPr algn="just">
              <a:lnSpc>
                <a:spcPct val="150000"/>
              </a:lnSpc>
              <a:buFont typeface="Arial" panose="020B0604020202020204" pitchFamily="34" charset="0"/>
              <a:buChar char="•"/>
            </a:pPr>
            <a:r>
              <a:rPr lang="en-US" sz="2000" b="1" u="sng" dirty="0">
                <a:effectLst/>
                <a:latin typeface="Times New Roman" panose="02020603050405020304" pitchFamily="18" charset="0"/>
                <a:cs typeface="Times New Roman" panose="02020603050405020304" pitchFamily="18" charset="0"/>
              </a:rPr>
              <a:t>Method of negotiations</a:t>
            </a:r>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allows making staff assignments between multiple projects to ensure each of the projects has appropriately competent human resources within the required time frame. The method entails the development and use of delegation and re-assignment models to make efficient staff assignments considering the benefits and visibility of competing projects.</a:t>
            </a:r>
          </a:p>
        </p:txBody>
      </p:sp>
      <p:sp>
        <p:nvSpPr>
          <p:cNvPr id="7" name="TextBox 6">
            <a:extLst>
              <a:ext uri="{FF2B5EF4-FFF2-40B4-BE49-F238E27FC236}">
                <a16:creationId xmlns:a16="http://schemas.microsoft.com/office/drawing/2014/main" id="{7A031369-0C45-E995-F76B-06F7CE482488}"/>
              </a:ext>
            </a:extLst>
          </p:cNvPr>
          <p:cNvSpPr txBox="1"/>
          <p:nvPr/>
        </p:nvSpPr>
        <p:spPr>
          <a:xfrm>
            <a:off x="459554" y="214710"/>
            <a:ext cx="7817179" cy="584775"/>
          </a:xfrm>
          <a:prstGeom prst="rect">
            <a:avLst/>
          </a:prstGeom>
          <a:noFill/>
        </p:spPr>
        <p:txBody>
          <a:bodyPr wrap="square">
            <a:spAutoFit/>
          </a:bodyPr>
          <a:lstStyle/>
          <a:p>
            <a:r>
              <a:rPr lang="en-US" sz="3200" b="1" dirty="0">
                <a:solidFill>
                  <a:srgbClr val="FF0000"/>
                </a:solidFill>
                <a:latin typeface="Garamond" panose="02020404030301010803" pitchFamily="18" charset="0"/>
              </a:rPr>
              <a:t>Methods Of Acquiring Project Team (</a:t>
            </a:r>
            <a:r>
              <a:rPr lang="en-US" sz="3200" b="1" dirty="0" err="1">
                <a:solidFill>
                  <a:srgbClr val="FF0000"/>
                </a:solidFill>
                <a:latin typeface="Garamond" panose="02020404030301010803" pitchFamily="18" charset="0"/>
              </a:rPr>
              <a:t>Cont</a:t>
            </a:r>
            <a:r>
              <a:rPr lang="en-US" sz="3200" b="1" dirty="0">
                <a:solidFill>
                  <a:srgbClr val="FF0000"/>
                </a:solidFill>
                <a:latin typeface="Garamond" panose="02020404030301010803" pitchFamily="18" charset="0"/>
              </a:rPr>
              <a:t>) </a:t>
            </a:r>
          </a:p>
        </p:txBody>
      </p:sp>
    </p:spTree>
    <p:extLst>
      <p:ext uri="{BB962C8B-B14F-4D97-AF65-F5344CB8AC3E}">
        <p14:creationId xmlns:p14="http://schemas.microsoft.com/office/powerpoint/2010/main" val="6457715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A061FFCA-F24B-3C00-7BAA-AFA27AA4421C}"/>
              </a:ext>
            </a:extLst>
          </p:cNvPr>
          <p:cNvGraphicFramePr>
            <a:graphicFrameLocks noGrp="1"/>
          </p:cNvGraphicFramePr>
          <p:nvPr>
            <p:extLst>
              <p:ext uri="{D42A27DB-BD31-4B8C-83A1-F6EECF244321}">
                <p14:modId xmlns:p14="http://schemas.microsoft.com/office/powerpoint/2010/main" val="3202800686"/>
              </p:ext>
            </p:extLst>
          </p:nvPr>
        </p:nvGraphicFramePr>
        <p:xfrm>
          <a:off x="394352" y="28280"/>
          <a:ext cx="6506067" cy="1066800"/>
        </p:xfrm>
        <a:graphic>
          <a:graphicData uri="http://schemas.openxmlformats.org/drawingml/2006/table">
            <a:tbl>
              <a:tblPr/>
              <a:tblGrid>
                <a:gridCol w="6506067">
                  <a:extLst>
                    <a:ext uri="{9D8B030D-6E8A-4147-A177-3AD203B41FA5}">
                      <a16:colId xmlns:a16="http://schemas.microsoft.com/office/drawing/2014/main" val="2261259090"/>
                    </a:ext>
                  </a:extLst>
                </a:gridCol>
              </a:tblGrid>
              <a:tr h="0">
                <a:tc>
                  <a:txBody>
                    <a:bodyPr/>
                    <a:lstStyle/>
                    <a:p>
                      <a:endParaRPr lang="en-US">
                        <a:effectLst/>
                      </a:endParaRPr>
                    </a:p>
                  </a:txBody>
                  <a:tcPr anchor="ctr">
                    <a:lnL>
                      <a:noFill/>
                    </a:lnL>
                    <a:lnR>
                      <a:noFill/>
                    </a:lnR>
                    <a:lnT>
                      <a:noFill/>
                    </a:lnT>
                    <a:lnB>
                      <a:noFill/>
                    </a:lnB>
                    <a:noFill/>
                  </a:tcPr>
                </a:tc>
                <a:extLst>
                  <a:ext uri="{0D108BD9-81ED-4DB2-BD59-A6C34878D82A}">
                    <a16:rowId xmlns:a16="http://schemas.microsoft.com/office/drawing/2014/main" val="852046248"/>
                  </a:ext>
                </a:extLst>
              </a:tr>
              <a:tr h="0">
                <a:tc>
                  <a:txBody>
                    <a:bodyPr/>
                    <a:lstStyle/>
                    <a:p>
                      <a:r>
                        <a:rPr lang="en-US" sz="4000" b="1" i="0" dirty="0">
                          <a:solidFill>
                            <a:srgbClr val="FF0000"/>
                          </a:solidFill>
                          <a:effectLst/>
                          <a:latin typeface="Garamond" panose="02020404030301010803" pitchFamily="18" charset="0"/>
                        </a:rPr>
                        <a:t>Develop Project Team</a:t>
                      </a:r>
                      <a:endParaRPr lang="en-US" sz="4000" b="1" dirty="0">
                        <a:solidFill>
                          <a:srgbClr val="FF0000"/>
                        </a:solidFill>
                        <a:effectLst/>
                        <a:latin typeface="Garamond" panose="02020404030301010803" pitchFamily="18" charset="0"/>
                      </a:endParaRPr>
                    </a:p>
                  </a:txBody>
                  <a:tcPr anchor="ctr">
                    <a:lnL>
                      <a:noFill/>
                    </a:lnL>
                    <a:lnR>
                      <a:noFill/>
                    </a:lnR>
                    <a:lnT>
                      <a:noFill/>
                    </a:lnT>
                    <a:lnB>
                      <a:noFill/>
                    </a:lnB>
                    <a:noFill/>
                  </a:tcPr>
                </a:tc>
                <a:extLst>
                  <a:ext uri="{0D108BD9-81ED-4DB2-BD59-A6C34878D82A}">
                    <a16:rowId xmlns:a16="http://schemas.microsoft.com/office/drawing/2014/main" val="363219027"/>
                  </a:ext>
                </a:extLst>
              </a:tr>
            </a:tbl>
          </a:graphicData>
        </a:graphic>
      </p:graphicFrame>
      <p:sp>
        <p:nvSpPr>
          <p:cNvPr id="5" name="Rectangle 1">
            <a:extLst>
              <a:ext uri="{FF2B5EF4-FFF2-40B4-BE49-F238E27FC236}">
                <a16:creationId xmlns:a16="http://schemas.microsoft.com/office/drawing/2014/main" id="{A47D067B-FF01-0713-2494-DE3B34936565}"/>
              </a:ext>
            </a:extLst>
          </p:cNvPr>
          <p:cNvSpPr>
            <a:spLocks noChangeArrowheads="1"/>
          </p:cNvSpPr>
          <p:nvPr/>
        </p:nvSpPr>
        <p:spPr bwMode="auto">
          <a:xfrm>
            <a:off x="5334000" y="36893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06EB00A5-F92F-7078-0257-8897834C142B}"/>
              </a:ext>
            </a:extLst>
          </p:cNvPr>
          <p:cNvSpPr txBox="1"/>
          <p:nvPr/>
        </p:nvSpPr>
        <p:spPr>
          <a:xfrm>
            <a:off x="498046" y="811432"/>
            <a:ext cx="9145573" cy="1883657"/>
          </a:xfrm>
          <a:prstGeom prst="rect">
            <a:avLst/>
          </a:prstGeom>
          <a:noFill/>
        </p:spPr>
        <p:txBody>
          <a:bodyPr wrap="square">
            <a:spAutoFit/>
          </a:bodyPr>
          <a:lstStyle/>
          <a:p>
            <a:pPr algn="just">
              <a:lnSpc>
                <a:spcPct val="150000"/>
              </a:lnSpc>
            </a:pP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Team development is not always a linear process. Having a way to identify and understand causes for changes in the team behaviors can help the team maximize its process and productivity.</a:t>
            </a:r>
          </a:p>
        </p:txBody>
      </p:sp>
      <p:pic>
        <p:nvPicPr>
          <p:cNvPr id="11" name="Picture 10">
            <a:extLst>
              <a:ext uri="{FF2B5EF4-FFF2-40B4-BE49-F238E27FC236}">
                <a16:creationId xmlns:a16="http://schemas.microsoft.com/office/drawing/2014/main" id="{78B76E95-EE2F-B008-4A26-EE127DD61D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14230" y="2924868"/>
            <a:ext cx="3663642" cy="3809218"/>
          </a:xfrm>
          <a:prstGeom prst="rect">
            <a:avLst/>
          </a:prstGeom>
        </p:spPr>
      </p:pic>
    </p:spTree>
    <p:extLst>
      <p:ext uri="{BB962C8B-B14F-4D97-AF65-F5344CB8AC3E}">
        <p14:creationId xmlns:p14="http://schemas.microsoft.com/office/powerpoint/2010/main" val="3427629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155D82E-2786-5F1E-3829-33ABBBDF4802}"/>
              </a:ext>
            </a:extLst>
          </p:cNvPr>
          <p:cNvSpPr txBox="1"/>
          <p:nvPr/>
        </p:nvSpPr>
        <p:spPr>
          <a:xfrm>
            <a:off x="478409" y="1426598"/>
            <a:ext cx="8165969" cy="984885"/>
          </a:xfrm>
          <a:prstGeom prst="rect">
            <a:avLst/>
          </a:prstGeom>
          <a:noFill/>
        </p:spPr>
        <p:txBody>
          <a:bodyPr wrap="square">
            <a:spAutoFit/>
          </a:bodyPr>
          <a:lstStyle/>
          <a:p>
            <a:r>
              <a:rPr lang="en-US" b="1" dirty="0">
                <a:solidFill>
                  <a:srgbClr val="FF0000"/>
                </a:solidFill>
                <a:latin typeface="Garamond" panose="02020404030301010803" pitchFamily="18" charset="0"/>
              </a:rPr>
              <a:t>Feelings</a:t>
            </a:r>
          </a:p>
          <a:p>
            <a:pPr algn="just"/>
            <a:r>
              <a:rPr lang="en-US" sz="2000" dirty="0">
                <a:latin typeface="Times New Roman" panose="02020603050405020304" pitchFamily="18" charset="0"/>
                <a:cs typeface="Times New Roman" panose="02020603050405020304" pitchFamily="18" charset="0"/>
              </a:rPr>
              <a:t>During the Forming stage of team development, team members are usually excited to be part of the team and eager about the work ahead. </a:t>
            </a:r>
          </a:p>
        </p:txBody>
      </p:sp>
      <p:sp>
        <p:nvSpPr>
          <p:cNvPr id="7" name="TextBox 6">
            <a:extLst>
              <a:ext uri="{FF2B5EF4-FFF2-40B4-BE49-F238E27FC236}">
                <a16:creationId xmlns:a16="http://schemas.microsoft.com/office/drawing/2014/main" id="{834E42C9-9A4D-D100-9EBD-593A4A39CB1C}"/>
              </a:ext>
            </a:extLst>
          </p:cNvPr>
          <p:cNvSpPr txBox="1"/>
          <p:nvPr/>
        </p:nvSpPr>
        <p:spPr>
          <a:xfrm>
            <a:off x="478409" y="2754249"/>
            <a:ext cx="8411065" cy="1292662"/>
          </a:xfrm>
          <a:prstGeom prst="rect">
            <a:avLst/>
          </a:prstGeom>
          <a:noFill/>
        </p:spPr>
        <p:txBody>
          <a:bodyPr wrap="square">
            <a:spAutoFit/>
          </a:bodyPr>
          <a:lstStyle/>
          <a:p>
            <a:r>
              <a:rPr lang="en-US" b="1" dirty="0">
                <a:solidFill>
                  <a:srgbClr val="FF0000"/>
                </a:solidFill>
                <a:latin typeface="Garamond" panose="02020404030301010803" pitchFamily="18" charset="0"/>
              </a:rPr>
              <a:t>Behaviors</a:t>
            </a:r>
          </a:p>
          <a:p>
            <a:pPr algn="just"/>
            <a:r>
              <a:rPr lang="en-US" sz="2000" dirty="0">
                <a:latin typeface="Times New Roman" panose="02020603050405020304" pitchFamily="18" charset="0"/>
                <a:cs typeface="Times New Roman" panose="02020603050405020304" pitchFamily="18" charset="0"/>
              </a:rPr>
              <a:t>Behaviors observed during the Forming stage may include lots of questions from team members, reflecting both their excitement about the new team and the uncertainty or anxiety they might be feeling about their place on the team.</a:t>
            </a:r>
          </a:p>
        </p:txBody>
      </p:sp>
      <p:sp>
        <p:nvSpPr>
          <p:cNvPr id="9" name="TextBox 8">
            <a:extLst>
              <a:ext uri="{FF2B5EF4-FFF2-40B4-BE49-F238E27FC236}">
                <a16:creationId xmlns:a16="http://schemas.microsoft.com/office/drawing/2014/main" id="{3BCFDD8F-D4FB-0D03-656D-905E50065D5C}"/>
              </a:ext>
            </a:extLst>
          </p:cNvPr>
          <p:cNvSpPr txBox="1"/>
          <p:nvPr/>
        </p:nvSpPr>
        <p:spPr>
          <a:xfrm>
            <a:off x="478408" y="4358899"/>
            <a:ext cx="8411065" cy="1292662"/>
          </a:xfrm>
          <a:prstGeom prst="rect">
            <a:avLst/>
          </a:prstGeom>
          <a:noFill/>
        </p:spPr>
        <p:txBody>
          <a:bodyPr wrap="square">
            <a:spAutoFit/>
          </a:bodyPr>
          <a:lstStyle/>
          <a:p>
            <a:r>
              <a:rPr lang="en-US" b="1" dirty="0">
                <a:solidFill>
                  <a:srgbClr val="FF0000"/>
                </a:solidFill>
                <a:latin typeface="Garamond" panose="02020404030301010803" pitchFamily="18" charset="0"/>
              </a:rPr>
              <a:t>Team Tasks</a:t>
            </a:r>
          </a:p>
          <a:p>
            <a:pPr algn="just"/>
            <a:r>
              <a:rPr lang="en-US" sz="2000" dirty="0">
                <a:latin typeface="Times New Roman" panose="02020603050405020304" pitchFamily="18" charset="0"/>
                <a:cs typeface="Times New Roman" panose="02020603050405020304" pitchFamily="18" charset="0"/>
              </a:rPr>
              <a:t>The principal work for the team during the Forming stage is to create a team with clear structure, goals, direction and roles so that members begin to build trust.</a:t>
            </a:r>
          </a:p>
        </p:txBody>
      </p:sp>
      <p:sp>
        <p:nvSpPr>
          <p:cNvPr id="11" name="TextBox 10">
            <a:extLst>
              <a:ext uri="{FF2B5EF4-FFF2-40B4-BE49-F238E27FC236}">
                <a16:creationId xmlns:a16="http://schemas.microsoft.com/office/drawing/2014/main" id="{3DEFEA3C-91BB-66C0-8C42-60C47B9CC8C6}"/>
              </a:ext>
            </a:extLst>
          </p:cNvPr>
          <p:cNvSpPr txBox="1"/>
          <p:nvPr/>
        </p:nvSpPr>
        <p:spPr>
          <a:xfrm>
            <a:off x="450128" y="437502"/>
            <a:ext cx="6103854" cy="584775"/>
          </a:xfrm>
          <a:prstGeom prst="rect">
            <a:avLst/>
          </a:prstGeom>
          <a:noFill/>
        </p:spPr>
        <p:txBody>
          <a:bodyPr wrap="square">
            <a:spAutoFit/>
          </a:bodyPr>
          <a:lstStyle/>
          <a:p>
            <a:r>
              <a:rPr lang="en-US" sz="3200" b="1" dirty="0">
                <a:solidFill>
                  <a:srgbClr val="FF0000"/>
                </a:solidFill>
                <a:latin typeface="Garamond" panose="02020404030301010803" pitchFamily="18" charset="0"/>
              </a:rPr>
              <a:t>Stage 1: Forming</a:t>
            </a:r>
          </a:p>
        </p:txBody>
      </p:sp>
    </p:spTree>
    <p:extLst>
      <p:ext uri="{BB962C8B-B14F-4D97-AF65-F5344CB8AC3E}">
        <p14:creationId xmlns:p14="http://schemas.microsoft.com/office/powerpoint/2010/main" val="4199340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948D180-ED2E-D0CC-3C4A-9ED131047DDB}"/>
              </a:ext>
            </a:extLst>
          </p:cNvPr>
          <p:cNvSpPr txBox="1"/>
          <p:nvPr/>
        </p:nvSpPr>
        <p:spPr>
          <a:xfrm>
            <a:off x="379429" y="204856"/>
            <a:ext cx="8835272" cy="861774"/>
          </a:xfrm>
          <a:prstGeom prst="rect">
            <a:avLst/>
          </a:prstGeom>
          <a:noFill/>
        </p:spPr>
        <p:txBody>
          <a:bodyPr wrap="square">
            <a:spAutoFit/>
          </a:bodyPr>
          <a:lstStyle/>
          <a:p>
            <a:r>
              <a:rPr lang="en-US" sz="3200" b="1" dirty="0">
                <a:solidFill>
                  <a:srgbClr val="FF0000"/>
                </a:solidFill>
                <a:latin typeface="Garamond" panose="02020404030301010803" pitchFamily="18" charset="0"/>
              </a:rPr>
              <a:t>Stage 2: Storming</a:t>
            </a:r>
          </a:p>
          <a:p>
            <a:endParaRPr lang="en-US" b="1" dirty="0"/>
          </a:p>
        </p:txBody>
      </p:sp>
      <p:sp>
        <p:nvSpPr>
          <p:cNvPr id="7" name="TextBox 6">
            <a:extLst>
              <a:ext uri="{FF2B5EF4-FFF2-40B4-BE49-F238E27FC236}">
                <a16:creationId xmlns:a16="http://schemas.microsoft.com/office/drawing/2014/main" id="{937A6420-8093-C736-79D3-EF2E4B7DFFD0}"/>
              </a:ext>
            </a:extLst>
          </p:cNvPr>
          <p:cNvSpPr txBox="1"/>
          <p:nvPr/>
        </p:nvSpPr>
        <p:spPr>
          <a:xfrm>
            <a:off x="468984" y="2334474"/>
            <a:ext cx="8505334" cy="1729769"/>
          </a:xfrm>
          <a:prstGeom prst="rect">
            <a:avLst/>
          </a:prstGeom>
          <a:noFill/>
        </p:spPr>
        <p:txBody>
          <a:bodyPr wrap="square">
            <a:spAutoFit/>
          </a:bodyPr>
          <a:lstStyle/>
          <a:p>
            <a:r>
              <a:rPr lang="en-US" sz="2000" b="1" dirty="0">
                <a:solidFill>
                  <a:srgbClr val="FF0000"/>
                </a:solidFill>
                <a:latin typeface="Garamond" panose="02020404030301010803" pitchFamily="18" charset="0"/>
                <a:cs typeface="Times New Roman" panose="02020603050405020304" pitchFamily="18" charset="0"/>
              </a:rPr>
              <a:t>Behaviors</a:t>
            </a:r>
          </a:p>
          <a:p>
            <a:pPr algn="just">
              <a:lnSpc>
                <a:spcPct val="150000"/>
              </a:lnSpc>
            </a:pPr>
            <a:r>
              <a:rPr lang="en-US" sz="2000" dirty="0">
                <a:latin typeface="Times New Roman" panose="02020603050405020304" pitchFamily="18" charset="0"/>
                <a:cs typeface="Times New Roman" panose="02020603050405020304" pitchFamily="18" charset="0"/>
              </a:rPr>
              <a:t>Behaviors during the Storming stage may be less polite than during the Forming stage, with frustration or disagreements about goals, expectations, roles and responsibilities being openly expressed. </a:t>
            </a:r>
          </a:p>
        </p:txBody>
      </p:sp>
      <p:sp>
        <p:nvSpPr>
          <p:cNvPr id="9" name="TextBox 8">
            <a:extLst>
              <a:ext uri="{FF2B5EF4-FFF2-40B4-BE49-F238E27FC236}">
                <a16:creationId xmlns:a16="http://schemas.microsoft.com/office/drawing/2014/main" id="{9D2368E4-92D2-D261-046A-996E69975B83}"/>
              </a:ext>
            </a:extLst>
          </p:cNvPr>
          <p:cNvSpPr txBox="1"/>
          <p:nvPr/>
        </p:nvSpPr>
        <p:spPr>
          <a:xfrm>
            <a:off x="468984" y="4245026"/>
            <a:ext cx="8656162" cy="2191434"/>
          </a:xfrm>
          <a:prstGeom prst="rect">
            <a:avLst/>
          </a:prstGeom>
          <a:noFill/>
        </p:spPr>
        <p:txBody>
          <a:bodyPr wrap="square">
            <a:spAutoFit/>
          </a:bodyPr>
          <a:lstStyle/>
          <a:p>
            <a:r>
              <a:rPr lang="en-US" sz="2000" b="1" dirty="0">
                <a:solidFill>
                  <a:srgbClr val="FF0000"/>
                </a:solidFill>
                <a:latin typeface="Garamond" panose="02020404030301010803" pitchFamily="18" charset="0"/>
              </a:rPr>
              <a:t>Team Tasks</a:t>
            </a:r>
          </a:p>
          <a:p>
            <a:pPr algn="just">
              <a:lnSpc>
                <a:spcPct val="150000"/>
              </a:lnSpc>
            </a:pPr>
            <a:r>
              <a:rPr lang="en-US" sz="2000" dirty="0">
                <a:latin typeface="Times New Roman" panose="02020603050405020304" pitchFamily="18" charset="0"/>
                <a:cs typeface="Times New Roman" panose="02020603050405020304" pitchFamily="18" charset="0"/>
              </a:rPr>
              <a:t>Team Tasks during the Storming stage of development call for the team to refocus on its goals, perhaps breaking larger goals down into smaller, achievable steps. The team may need to develop both task-related skills and group process and conflict management skills.</a:t>
            </a:r>
          </a:p>
        </p:txBody>
      </p:sp>
      <p:sp>
        <p:nvSpPr>
          <p:cNvPr id="3" name="TextBox 2">
            <a:extLst>
              <a:ext uri="{FF2B5EF4-FFF2-40B4-BE49-F238E27FC236}">
                <a16:creationId xmlns:a16="http://schemas.microsoft.com/office/drawing/2014/main" id="{026018FD-2F2F-B114-D623-BC4D3F7A4B09}"/>
              </a:ext>
            </a:extLst>
          </p:cNvPr>
          <p:cNvSpPr txBox="1"/>
          <p:nvPr/>
        </p:nvSpPr>
        <p:spPr>
          <a:xfrm>
            <a:off x="468984" y="1003120"/>
            <a:ext cx="8722150" cy="1181349"/>
          </a:xfrm>
          <a:prstGeom prst="rect">
            <a:avLst/>
          </a:prstGeom>
          <a:noFill/>
        </p:spPr>
        <p:txBody>
          <a:bodyPr wrap="square">
            <a:spAutoFit/>
          </a:bodyPr>
          <a:lstStyle/>
          <a:p>
            <a:r>
              <a:rPr lang="en-US" sz="2000" b="1" dirty="0">
                <a:solidFill>
                  <a:srgbClr val="FF0000"/>
                </a:solidFill>
                <a:effectLst/>
                <a:latin typeface="Garamond" panose="02020404030301010803" pitchFamily="18" charset="0"/>
              </a:rPr>
              <a:t>Feelings</a:t>
            </a:r>
          </a:p>
          <a:p>
            <a:pPr algn="just">
              <a:lnSpc>
                <a:spcPct val="150000"/>
              </a:lnSpc>
            </a:pPr>
            <a:r>
              <a:rPr lang="en-US" sz="1800" dirty="0">
                <a:effectLst/>
                <a:latin typeface="Times New Roman" panose="02020603050405020304" pitchFamily="18" charset="0"/>
                <a:cs typeface="Times New Roman" panose="02020603050405020304" pitchFamily="18" charset="0"/>
              </a:rPr>
              <a:t>As the team begins to move towards its goals, members discover that the team can't live up to all of their early excitement and expectations. </a:t>
            </a:r>
          </a:p>
        </p:txBody>
      </p:sp>
    </p:spTree>
    <p:extLst>
      <p:ext uri="{BB962C8B-B14F-4D97-AF65-F5344CB8AC3E}">
        <p14:creationId xmlns:p14="http://schemas.microsoft.com/office/powerpoint/2010/main" val="27834288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84DE7D9-08B7-B059-048B-9B54CCB8C6E2}"/>
              </a:ext>
            </a:extLst>
          </p:cNvPr>
          <p:cNvSpPr txBox="1"/>
          <p:nvPr/>
        </p:nvSpPr>
        <p:spPr>
          <a:xfrm>
            <a:off x="393569" y="414309"/>
            <a:ext cx="8741004" cy="1138773"/>
          </a:xfrm>
          <a:prstGeom prst="rect">
            <a:avLst/>
          </a:prstGeom>
          <a:noFill/>
        </p:spPr>
        <p:txBody>
          <a:bodyPr wrap="square">
            <a:spAutoFit/>
          </a:bodyPr>
          <a:lstStyle/>
          <a:p>
            <a:r>
              <a:rPr lang="en-US" sz="3200" b="1" dirty="0">
                <a:solidFill>
                  <a:srgbClr val="FF0000"/>
                </a:solidFill>
                <a:latin typeface="Garamond" panose="02020404030301010803" pitchFamily="18" charset="0"/>
              </a:rPr>
              <a:t>Stage 3: Norming</a:t>
            </a:r>
          </a:p>
          <a:p>
            <a:endParaRPr lang="en-US" b="1" dirty="0"/>
          </a:p>
          <a:p>
            <a:endParaRPr lang="en-US" b="1" dirty="0"/>
          </a:p>
        </p:txBody>
      </p:sp>
      <p:sp>
        <p:nvSpPr>
          <p:cNvPr id="7" name="TextBox 6">
            <a:extLst>
              <a:ext uri="{FF2B5EF4-FFF2-40B4-BE49-F238E27FC236}">
                <a16:creationId xmlns:a16="http://schemas.microsoft.com/office/drawing/2014/main" id="{4734877D-3B4A-BA2D-3320-B72ECF80DB81}"/>
              </a:ext>
            </a:extLst>
          </p:cNvPr>
          <p:cNvSpPr txBox="1"/>
          <p:nvPr/>
        </p:nvSpPr>
        <p:spPr>
          <a:xfrm>
            <a:off x="393566" y="3321396"/>
            <a:ext cx="8882406" cy="1268104"/>
          </a:xfrm>
          <a:prstGeom prst="rect">
            <a:avLst/>
          </a:prstGeom>
          <a:noFill/>
        </p:spPr>
        <p:txBody>
          <a:bodyPr wrap="square">
            <a:spAutoFit/>
          </a:bodyPr>
          <a:lstStyle/>
          <a:p>
            <a:r>
              <a:rPr lang="en-US" sz="2000" b="1" dirty="0">
                <a:solidFill>
                  <a:srgbClr val="FF0000"/>
                </a:solidFill>
                <a:latin typeface="Garamond" panose="02020404030301010803" pitchFamily="18" charset="0"/>
              </a:rPr>
              <a:t>Behaviors</a:t>
            </a:r>
          </a:p>
          <a:p>
            <a:pPr algn="just">
              <a:lnSpc>
                <a:spcPct val="150000"/>
              </a:lnSpc>
            </a:pPr>
            <a:r>
              <a:rPr lang="en-US" sz="2000" dirty="0">
                <a:latin typeface="Times New Roman" panose="02020603050405020304" pitchFamily="18" charset="0"/>
                <a:cs typeface="Times New Roman" panose="02020603050405020304" pitchFamily="18" charset="0"/>
              </a:rPr>
              <a:t>Behaviors during the Norming stage may include members making a conscious effort to resolve problems and achieve group harmony. </a:t>
            </a:r>
          </a:p>
        </p:txBody>
      </p:sp>
      <p:sp>
        <p:nvSpPr>
          <p:cNvPr id="9" name="TextBox 8">
            <a:extLst>
              <a:ext uri="{FF2B5EF4-FFF2-40B4-BE49-F238E27FC236}">
                <a16:creationId xmlns:a16="http://schemas.microsoft.com/office/drawing/2014/main" id="{9B1CC2EC-AFAF-5439-D607-4094C2DB482B}"/>
              </a:ext>
            </a:extLst>
          </p:cNvPr>
          <p:cNvSpPr txBox="1"/>
          <p:nvPr/>
        </p:nvSpPr>
        <p:spPr>
          <a:xfrm>
            <a:off x="393566" y="4927770"/>
            <a:ext cx="8882406" cy="1268104"/>
          </a:xfrm>
          <a:prstGeom prst="rect">
            <a:avLst/>
          </a:prstGeom>
          <a:noFill/>
        </p:spPr>
        <p:txBody>
          <a:bodyPr wrap="square">
            <a:spAutoFit/>
          </a:bodyPr>
          <a:lstStyle/>
          <a:p>
            <a:r>
              <a:rPr lang="en-US" sz="2000" b="1" dirty="0">
                <a:solidFill>
                  <a:srgbClr val="FF0000"/>
                </a:solidFill>
                <a:latin typeface="Times New Roman" panose="02020603050405020304" pitchFamily="18" charset="0"/>
                <a:cs typeface="Times New Roman" panose="02020603050405020304" pitchFamily="18" charset="0"/>
              </a:rPr>
              <a:t>Team Tasks</a:t>
            </a:r>
          </a:p>
          <a:p>
            <a:pPr algn="just">
              <a:lnSpc>
                <a:spcPct val="150000"/>
              </a:lnSpc>
            </a:pPr>
            <a:r>
              <a:rPr lang="en-US" sz="2000" dirty="0">
                <a:latin typeface="Times New Roman" panose="02020603050405020304" pitchFamily="18" charset="0"/>
                <a:cs typeface="Times New Roman" panose="02020603050405020304" pitchFamily="18" charset="0"/>
              </a:rPr>
              <a:t>During the Norming stage, members shift their energy to the team's goals and show an increase in productivity, in both individual and collective work.</a:t>
            </a:r>
          </a:p>
        </p:txBody>
      </p:sp>
      <p:sp>
        <p:nvSpPr>
          <p:cNvPr id="3" name="TextBox 2">
            <a:extLst>
              <a:ext uri="{FF2B5EF4-FFF2-40B4-BE49-F238E27FC236}">
                <a16:creationId xmlns:a16="http://schemas.microsoft.com/office/drawing/2014/main" id="{20435D85-E716-957A-EBBA-D1165858C4BD}"/>
              </a:ext>
            </a:extLst>
          </p:cNvPr>
          <p:cNvSpPr txBox="1"/>
          <p:nvPr/>
        </p:nvSpPr>
        <p:spPr>
          <a:xfrm>
            <a:off x="393566" y="1298033"/>
            <a:ext cx="9042663" cy="1729769"/>
          </a:xfrm>
          <a:prstGeom prst="rect">
            <a:avLst/>
          </a:prstGeom>
          <a:noFill/>
        </p:spPr>
        <p:txBody>
          <a:bodyPr wrap="square">
            <a:spAutoFit/>
          </a:bodyPr>
          <a:lstStyle/>
          <a:p>
            <a:r>
              <a:rPr lang="en-US" sz="2000" b="1" dirty="0">
                <a:solidFill>
                  <a:srgbClr val="FF0000"/>
                </a:solidFill>
                <a:effectLst/>
                <a:latin typeface="Times New Roman" panose="02020603050405020304" pitchFamily="18" charset="0"/>
                <a:cs typeface="Times New Roman" panose="02020603050405020304" pitchFamily="18" charset="0"/>
              </a:rPr>
              <a:t>Feelings</a:t>
            </a:r>
          </a:p>
          <a:p>
            <a:pPr algn="just">
              <a:lnSpc>
                <a:spcPct val="150000"/>
              </a:lnSpc>
            </a:pPr>
            <a:r>
              <a:rPr lang="en-US" sz="2000" dirty="0">
                <a:effectLst/>
                <a:latin typeface="Times New Roman" panose="02020603050405020304" pitchFamily="18" charset="0"/>
                <a:cs typeface="Times New Roman" panose="02020603050405020304" pitchFamily="18" charset="0"/>
              </a:rPr>
              <a:t>During the Norming stage of team development, team members begin to resolve the discrepancy they felt between their individual expectations and the reality of the team's experience. </a:t>
            </a:r>
          </a:p>
        </p:txBody>
      </p:sp>
    </p:spTree>
    <p:extLst>
      <p:ext uri="{BB962C8B-B14F-4D97-AF65-F5344CB8AC3E}">
        <p14:creationId xmlns:p14="http://schemas.microsoft.com/office/powerpoint/2010/main" val="2068053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87539AA-33E6-1704-AB2A-07CA9A7C4FB0}"/>
              </a:ext>
            </a:extLst>
          </p:cNvPr>
          <p:cNvSpPr txBox="1"/>
          <p:nvPr/>
        </p:nvSpPr>
        <p:spPr>
          <a:xfrm>
            <a:off x="516116" y="233771"/>
            <a:ext cx="8269665" cy="523220"/>
          </a:xfrm>
          <a:prstGeom prst="rect">
            <a:avLst/>
          </a:prstGeom>
          <a:noFill/>
        </p:spPr>
        <p:txBody>
          <a:bodyPr wrap="square">
            <a:spAutoFit/>
          </a:bodyPr>
          <a:lstStyle/>
          <a:p>
            <a:r>
              <a:rPr lang="en-US" sz="2800" b="1" dirty="0">
                <a:solidFill>
                  <a:srgbClr val="FF0000"/>
                </a:solidFill>
                <a:latin typeface="Garamond" panose="02020404030301010803" pitchFamily="18" charset="0"/>
              </a:rPr>
              <a:t>Stage 4: Performing</a:t>
            </a:r>
          </a:p>
        </p:txBody>
      </p:sp>
      <p:sp>
        <p:nvSpPr>
          <p:cNvPr id="7" name="TextBox 6">
            <a:extLst>
              <a:ext uri="{FF2B5EF4-FFF2-40B4-BE49-F238E27FC236}">
                <a16:creationId xmlns:a16="http://schemas.microsoft.com/office/drawing/2014/main" id="{BF0F6942-C0B6-2BE3-B916-E5726E637024}"/>
              </a:ext>
            </a:extLst>
          </p:cNvPr>
          <p:cNvSpPr txBox="1"/>
          <p:nvPr/>
        </p:nvSpPr>
        <p:spPr>
          <a:xfrm>
            <a:off x="516115" y="2160427"/>
            <a:ext cx="8627884" cy="984885"/>
          </a:xfrm>
          <a:prstGeom prst="rect">
            <a:avLst/>
          </a:prstGeom>
          <a:noFill/>
        </p:spPr>
        <p:txBody>
          <a:bodyPr wrap="square">
            <a:spAutoFit/>
          </a:bodyPr>
          <a:lstStyle/>
          <a:p>
            <a:r>
              <a:rPr lang="en-US" b="1" dirty="0">
                <a:solidFill>
                  <a:srgbClr val="FF0000"/>
                </a:solidFill>
                <a:latin typeface="Garamond" panose="02020404030301010803" pitchFamily="18" charset="0"/>
              </a:rPr>
              <a:t>Behaviors</a:t>
            </a:r>
          </a:p>
          <a:p>
            <a:pPr algn="just"/>
            <a:r>
              <a:rPr lang="en-US" sz="2000" dirty="0">
                <a:latin typeface="Times New Roman" panose="02020603050405020304" pitchFamily="18" charset="0"/>
                <a:cs typeface="Times New Roman" panose="02020603050405020304" pitchFamily="18" charset="0"/>
              </a:rPr>
              <a:t>Team members can prevent or solve problems in the team's process or the team's progress. A "can do" attitude is visible as are offers to assist one another. </a:t>
            </a:r>
          </a:p>
        </p:txBody>
      </p:sp>
      <p:sp>
        <p:nvSpPr>
          <p:cNvPr id="9" name="TextBox 8">
            <a:extLst>
              <a:ext uri="{FF2B5EF4-FFF2-40B4-BE49-F238E27FC236}">
                <a16:creationId xmlns:a16="http://schemas.microsoft.com/office/drawing/2014/main" id="{95933A14-F33D-935D-2261-CC71EA03328C}"/>
              </a:ext>
            </a:extLst>
          </p:cNvPr>
          <p:cNvSpPr txBox="1"/>
          <p:nvPr/>
        </p:nvSpPr>
        <p:spPr>
          <a:xfrm>
            <a:off x="516115" y="3370014"/>
            <a:ext cx="8514763" cy="1323439"/>
          </a:xfrm>
          <a:prstGeom prst="rect">
            <a:avLst/>
          </a:prstGeom>
          <a:noFill/>
        </p:spPr>
        <p:txBody>
          <a:bodyPr wrap="square">
            <a:spAutoFit/>
          </a:bodyPr>
          <a:lstStyle/>
          <a:p>
            <a:r>
              <a:rPr lang="en-US" sz="2000" b="1" dirty="0">
                <a:solidFill>
                  <a:srgbClr val="FF0000"/>
                </a:solidFill>
                <a:latin typeface="Garamond" panose="02020404030301010803" pitchFamily="18" charset="0"/>
              </a:rPr>
              <a:t>Team Tasks</a:t>
            </a:r>
          </a:p>
          <a:p>
            <a:pPr algn="just"/>
            <a:r>
              <a:rPr lang="en-US" sz="2000" dirty="0">
                <a:latin typeface="Times New Roman" panose="02020603050405020304" pitchFamily="18" charset="0"/>
                <a:cs typeface="Times New Roman" panose="02020603050405020304" pitchFamily="18" charset="0"/>
              </a:rPr>
              <a:t>In the Performing stage, the team makes significant progress towards its goals. Commitment to the team's mission is high and the competence of team members is also high. </a:t>
            </a:r>
          </a:p>
        </p:txBody>
      </p:sp>
      <p:sp>
        <p:nvSpPr>
          <p:cNvPr id="11" name="TextBox 10">
            <a:extLst>
              <a:ext uri="{FF2B5EF4-FFF2-40B4-BE49-F238E27FC236}">
                <a16:creationId xmlns:a16="http://schemas.microsoft.com/office/drawing/2014/main" id="{FFD6E957-4EBB-3F1F-1BEF-9B7F49AD839A}"/>
              </a:ext>
            </a:extLst>
          </p:cNvPr>
          <p:cNvSpPr txBox="1"/>
          <p:nvPr/>
        </p:nvSpPr>
        <p:spPr>
          <a:xfrm>
            <a:off x="516115" y="4918155"/>
            <a:ext cx="8627884" cy="1231106"/>
          </a:xfrm>
          <a:prstGeom prst="rect">
            <a:avLst/>
          </a:prstGeom>
          <a:noFill/>
        </p:spPr>
        <p:txBody>
          <a:bodyPr wrap="square">
            <a:spAutoFit/>
          </a:bodyPr>
          <a:lstStyle/>
          <a:p>
            <a:r>
              <a:rPr lang="en-US" sz="2000" b="1" dirty="0">
                <a:solidFill>
                  <a:srgbClr val="FF0000"/>
                </a:solidFill>
                <a:latin typeface="Garamond" panose="02020404030301010803" pitchFamily="18" charset="0"/>
              </a:rPr>
              <a:t>Is the "Performing" stage the end of the process?</a:t>
            </a:r>
          </a:p>
          <a:p>
            <a:pPr algn="just"/>
            <a:r>
              <a:rPr lang="en-US" dirty="0">
                <a:latin typeface="Times New Roman" panose="02020603050405020304" pitchFamily="18" charset="0"/>
                <a:cs typeface="Times New Roman" panose="02020603050405020304" pitchFamily="18" charset="0"/>
              </a:rPr>
              <a:t>While working on a high-performing team may be a truly pleasurable and </a:t>
            </a:r>
            <a:r>
              <a:rPr lang="en-US" dirty="0" err="1">
                <a:latin typeface="Times New Roman" panose="02020603050405020304" pitchFamily="18" charset="0"/>
                <a:cs typeface="Times New Roman" panose="02020603050405020304" pitchFamily="18" charset="0"/>
              </a:rPr>
              <a:t>growthful</a:t>
            </a:r>
            <a:r>
              <a:rPr lang="en-US" dirty="0">
                <a:latin typeface="Times New Roman" panose="02020603050405020304" pitchFamily="18" charset="0"/>
                <a:cs typeface="Times New Roman" panose="02020603050405020304" pitchFamily="18" charset="0"/>
              </a:rPr>
              <a:t> experience, it is not the end of team development. There is still a need for the team to focus on both process and product, setting new goals as appropriate. </a:t>
            </a:r>
          </a:p>
        </p:txBody>
      </p:sp>
      <p:sp>
        <p:nvSpPr>
          <p:cNvPr id="3" name="TextBox 2">
            <a:extLst>
              <a:ext uri="{FF2B5EF4-FFF2-40B4-BE49-F238E27FC236}">
                <a16:creationId xmlns:a16="http://schemas.microsoft.com/office/drawing/2014/main" id="{C83753AC-F515-B4AB-9DD6-8DFD94AFF3EC}"/>
              </a:ext>
            </a:extLst>
          </p:cNvPr>
          <p:cNvSpPr txBox="1"/>
          <p:nvPr/>
        </p:nvSpPr>
        <p:spPr>
          <a:xfrm>
            <a:off x="516116" y="950915"/>
            <a:ext cx="8627883" cy="1015663"/>
          </a:xfrm>
          <a:prstGeom prst="rect">
            <a:avLst/>
          </a:prstGeom>
          <a:noFill/>
        </p:spPr>
        <p:txBody>
          <a:bodyPr wrap="square">
            <a:spAutoFit/>
          </a:bodyPr>
          <a:lstStyle/>
          <a:p>
            <a:r>
              <a:rPr lang="en-US" sz="2000" b="1" dirty="0">
                <a:solidFill>
                  <a:srgbClr val="FF0000"/>
                </a:solidFill>
                <a:effectLst/>
                <a:latin typeface="Garamond" panose="02020404030301010803" pitchFamily="18" charset="0"/>
              </a:rPr>
              <a:t>Feelings</a:t>
            </a:r>
          </a:p>
          <a:p>
            <a:pPr algn="just"/>
            <a:r>
              <a:rPr lang="en-US" sz="2000" dirty="0">
                <a:effectLst/>
                <a:latin typeface="Times New Roman" panose="02020603050405020304" pitchFamily="18" charset="0"/>
                <a:cs typeface="Times New Roman" panose="02020603050405020304" pitchFamily="18" charset="0"/>
              </a:rPr>
              <a:t>In the Performing stage of team development, members feel satisfied with the team's progress. </a:t>
            </a:r>
          </a:p>
        </p:txBody>
      </p:sp>
    </p:spTree>
    <p:extLst>
      <p:ext uri="{BB962C8B-B14F-4D97-AF65-F5344CB8AC3E}">
        <p14:creationId xmlns:p14="http://schemas.microsoft.com/office/powerpoint/2010/main" val="28471273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CF8642D-AF87-7FB5-CF49-88E54296F96F}"/>
              </a:ext>
            </a:extLst>
          </p:cNvPr>
          <p:cNvSpPr txBox="1"/>
          <p:nvPr/>
        </p:nvSpPr>
        <p:spPr>
          <a:xfrm>
            <a:off x="478411" y="399794"/>
            <a:ext cx="6103854" cy="584775"/>
          </a:xfrm>
          <a:prstGeom prst="rect">
            <a:avLst/>
          </a:prstGeom>
          <a:noFill/>
        </p:spPr>
        <p:txBody>
          <a:bodyPr wrap="square">
            <a:spAutoFit/>
          </a:bodyPr>
          <a:lstStyle/>
          <a:p>
            <a:r>
              <a:rPr lang="en-US" sz="3200" b="1" dirty="0">
                <a:solidFill>
                  <a:srgbClr val="FF0000"/>
                </a:solidFill>
                <a:latin typeface="Garamond" panose="02020404030301010803" pitchFamily="18" charset="0"/>
              </a:rPr>
              <a:t>Termination/Ending</a:t>
            </a:r>
          </a:p>
        </p:txBody>
      </p:sp>
      <p:sp>
        <p:nvSpPr>
          <p:cNvPr id="7" name="TextBox 6">
            <a:extLst>
              <a:ext uri="{FF2B5EF4-FFF2-40B4-BE49-F238E27FC236}">
                <a16:creationId xmlns:a16="http://schemas.microsoft.com/office/drawing/2014/main" id="{FC5F23F3-065E-7439-9E04-B0DC046120A7}"/>
              </a:ext>
            </a:extLst>
          </p:cNvPr>
          <p:cNvSpPr txBox="1"/>
          <p:nvPr/>
        </p:nvSpPr>
        <p:spPr>
          <a:xfrm>
            <a:off x="478410" y="1219547"/>
            <a:ext cx="8872980" cy="2499210"/>
          </a:xfrm>
          <a:prstGeom prst="rect">
            <a:avLst/>
          </a:prstGeom>
          <a:noFill/>
        </p:spPr>
        <p:txBody>
          <a:bodyPr wrap="square">
            <a:spAutoFit/>
          </a:bodyPr>
          <a:lstStyle/>
          <a:p>
            <a:r>
              <a:rPr lang="en-US" sz="2000" b="1" dirty="0">
                <a:solidFill>
                  <a:srgbClr val="FF0000"/>
                </a:solidFill>
                <a:latin typeface="Garamond" panose="02020404030301010803" pitchFamily="18" charset="0"/>
              </a:rPr>
              <a:t>Feelings</a:t>
            </a:r>
          </a:p>
          <a:p>
            <a:endParaRPr lang="en-US" sz="2000" b="1" dirty="0">
              <a:solidFill>
                <a:srgbClr val="FF0000"/>
              </a:solidFill>
              <a:latin typeface="Garamond" panose="02020404030301010803"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Team members may feel a variety of concerns about the team’s impending dissolution. They may be feeling some anxiety because of uncertainty about their individual role or future responsibilities. They may feel sadness or a sense of loss about the changes coming to their team relationships.</a:t>
            </a:r>
          </a:p>
        </p:txBody>
      </p:sp>
      <p:sp>
        <p:nvSpPr>
          <p:cNvPr id="9" name="TextBox 8">
            <a:extLst>
              <a:ext uri="{FF2B5EF4-FFF2-40B4-BE49-F238E27FC236}">
                <a16:creationId xmlns:a16="http://schemas.microsoft.com/office/drawing/2014/main" id="{4DEDEC9A-EB5D-C29E-4E14-D217748ADA61}"/>
              </a:ext>
            </a:extLst>
          </p:cNvPr>
          <p:cNvSpPr txBox="1"/>
          <p:nvPr/>
        </p:nvSpPr>
        <p:spPr>
          <a:xfrm>
            <a:off x="478410" y="4249586"/>
            <a:ext cx="8637309" cy="1575881"/>
          </a:xfrm>
          <a:prstGeom prst="rect">
            <a:avLst/>
          </a:prstGeom>
          <a:noFill/>
        </p:spPr>
        <p:txBody>
          <a:bodyPr wrap="square">
            <a:spAutoFit/>
          </a:bodyPr>
          <a:lstStyle/>
          <a:p>
            <a:r>
              <a:rPr lang="en-US" sz="2000" b="1" dirty="0">
                <a:solidFill>
                  <a:srgbClr val="FF0000"/>
                </a:solidFill>
                <a:latin typeface="Garamond" panose="02020404030301010803" pitchFamily="18" charset="0"/>
                <a:cs typeface="Times New Roman" panose="02020603050405020304" pitchFamily="18" charset="0"/>
              </a:rPr>
              <a:t>Behaviors</a:t>
            </a:r>
          </a:p>
          <a:p>
            <a:endParaRPr lang="en-US" sz="2000" b="1" dirty="0">
              <a:solidFill>
                <a:srgbClr val="FF0000"/>
              </a:solidFill>
              <a:latin typeface="Garamond" panose="02020404030301010803" pitchFamily="18" charset="0"/>
              <a:cs typeface="Times New Roman" panose="02020603050405020304" pitchFamily="18" charset="0"/>
            </a:endParaRPr>
          </a:p>
          <a:p>
            <a:pPr>
              <a:lnSpc>
                <a:spcPct val="150000"/>
              </a:lnSpc>
            </a:pPr>
            <a:r>
              <a:rPr lang="en-US" sz="2000" dirty="0">
                <a:latin typeface="Times New Roman" panose="02020603050405020304" pitchFamily="18" charset="0"/>
                <a:cs typeface="Times New Roman" panose="02020603050405020304" pitchFamily="18" charset="0"/>
              </a:rPr>
              <a:t>During the Ending Stage, some team members may become less focused on the team's tasks and their productivity may drop.</a:t>
            </a:r>
          </a:p>
        </p:txBody>
      </p:sp>
    </p:spTree>
    <p:extLst>
      <p:ext uri="{BB962C8B-B14F-4D97-AF65-F5344CB8AC3E}">
        <p14:creationId xmlns:p14="http://schemas.microsoft.com/office/powerpoint/2010/main" val="1854639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8D84B09B-3165-0933-FC3D-E6821A332374}"/>
              </a:ext>
            </a:extLst>
          </p:cNvPr>
          <p:cNvSpPr txBox="1"/>
          <p:nvPr/>
        </p:nvSpPr>
        <p:spPr>
          <a:xfrm>
            <a:off x="534970" y="1303157"/>
            <a:ext cx="9127504" cy="4191981"/>
          </a:xfrm>
          <a:prstGeom prst="rect">
            <a:avLst/>
          </a:prstGeom>
          <a:noFill/>
        </p:spPr>
        <p:txBody>
          <a:bodyPr wrap="square">
            <a:spAutoFit/>
          </a:bodyPr>
          <a:lstStyle/>
          <a:p>
            <a:pPr algn="just">
              <a:lnSpc>
                <a:spcPct val="150000"/>
              </a:lnSpc>
            </a:pPr>
            <a:r>
              <a:rPr lang="en-US" sz="2000" dirty="0">
                <a:latin typeface="Times New Roman" panose="02020603050405020304" pitchFamily="18" charset="0"/>
                <a:cs typeface="Times New Roman" panose="02020603050405020304" pitchFamily="18" charset="0"/>
              </a:rPr>
              <a:t>The team needs to acknowledge the upcoming transition and the variety of ways that individuals and the team may be feeling about the team’s impending dissolution. During this stage, the team should focus on three tasks:</a:t>
            </a:r>
          </a:p>
          <a:p>
            <a:pPr>
              <a:lnSpc>
                <a:spcPct val="150000"/>
              </a:lnSpc>
            </a:pPr>
            <a:endParaRPr lang="en-US" sz="2000" dirty="0">
              <a:latin typeface="Times New Roman" panose="02020603050405020304" pitchFamily="18" charset="0"/>
              <a:cs typeface="Times New Roman" panose="02020603050405020304" pitchFamily="18" charset="0"/>
            </a:endParaRPr>
          </a:p>
          <a:p>
            <a:pPr algn="just">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Completion of any deliverables and closure on any remaining teamwork</a:t>
            </a:r>
          </a:p>
          <a:p>
            <a:pPr algn="just">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Evaluation of the team’s process and product, with a particular focus on identifying "lessons learned" and passing these on to the sponsor for future teams to use</a:t>
            </a:r>
          </a:p>
          <a:p>
            <a:pPr algn="just">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Creating a closing celebration that acknowledges the contributions of individuals and the accomplishments of the team and that formally ends this particular team's existence.</a:t>
            </a:r>
          </a:p>
        </p:txBody>
      </p:sp>
      <p:sp>
        <p:nvSpPr>
          <p:cNvPr id="3" name="TextBox 2">
            <a:extLst>
              <a:ext uri="{FF2B5EF4-FFF2-40B4-BE49-F238E27FC236}">
                <a16:creationId xmlns:a16="http://schemas.microsoft.com/office/drawing/2014/main" id="{1BBA7C45-A39A-0E9A-BBF0-0BCC696BD165}"/>
              </a:ext>
            </a:extLst>
          </p:cNvPr>
          <p:cNvSpPr txBox="1"/>
          <p:nvPr/>
        </p:nvSpPr>
        <p:spPr>
          <a:xfrm>
            <a:off x="534970" y="465783"/>
            <a:ext cx="6103854" cy="707886"/>
          </a:xfrm>
          <a:prstGeom prst="rect">
            <a:avLst/>
          </a:prstGeom>
          <a:noFill/>
        </p:spPr>
        <p:txBody>
          <a:bodyPr wrap="square">
            <a:spAutoFit/>
          </a:bodyPr>
          <a:lstStyle/>
          <a:p>
            <a:r>
              <a:rPr lang="en-US" sz="4000" b="1" dirty="0">
                <a:solidFill>
                  <a:srgbClr val="FF0000"/>
                </a:solidFill>
                <a:latin typeface="Garamond" panose="02020404030301010803" pitchFamily="18" charset="0"/>
              </a:rPr>
              <a:t>Team Tasks</a:t>
            </a:r>
          </a:p>
        </p:txBody>
      </p:sp>
    </p:spTree>
    <p:extLst>
      <p:ext uri="{BB962C8B-B14F-4D97-AF65-F5344CB8AC3E}">
        <p14:creationId xmlns:p14="http://schemas.microsoft.com/office/powerpoint/2010/main" val="13132744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a:extLst>
              <a:ext uri="{FF2B5EF4-FFF2-40B4-BE49-F238E27FC236}">
                <a16:creationId xmlns:a16="http://schemas.microsoft.com/office/drawing/2014/main" id="{1914CCF9-3941-4B1C-F395-EEDA33EDB427}"/>
              </a:ext>
            </a:extLst>
          </p:cNvPr>
          <p:cNvSpPr>
            <a:spLocks noChangeArrowheads="1"/>
          </p:cNvSpPr>
          <p:nvPr/>
        </p:nvSpPr>
        <p:spPr bwMode="auto">
          <a:xfrm>
            <a:off x="755987" y="40970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A45A4510-D260-3A56-4022-35F0FEC897D5}"/>
              </a:ext>
            </a:extLst>
          </p:cNvPr>
          <p:cNvSpPr txBox="1"/>
          <p:nvPr/>
        </p:nvSpPr>
        <p:spPr>
          <a:xfrm>
            <a:off x="481429" y="1233374"/>
            <a:ext cx="8222529" cy="1323439"/>
          </a:xfrm>
          <a:prstGeom prst="rect">
            <a:avLst/>
          </a:prstGeom>
          <a:noFill/>
        </p:spPr>
        <p:txBody>
          <a:bodyPr wrap="square">
            <a:spAutoFit/>
          </a:bodyPr>
          <a:lstStyle/>
          <a:p>
            <a:r>
              <a:rPr lang="en-US" sz="2000" b="1" dirty="0">
                <a:solidFill>
                  <a:srgbClr val="FF0000"/>
                </a:solidFill>
                <a:latin typeface="Garamond" panose="02020404030301010803" pitchFamily="18" charset="0"/>
              </a:rPr>
              <a:t>What Is Team Management?</a:t>
            </a:r>
          </a:p>
          <a:p>
            <a:pPr algn="just"/>
            <a:r>
              <a:rPr lang="en-US" sz="2000" dirty="0">
                <a:latin typeface="Times New Roman" panose="02020603050405020304" pitchFamily="18" charset="0"/>
                <a:cs typeface="Times New Roman" panose="02020603050405020304" pitchFamily="18" charset="0"/>
              </a:rPr>
              <a:t>Team management is the overarching competency of team managers. It comprises the abilities, knowledge, technical skills, and behavior required to manage a team. But what is a team manager exactly?</a:t>
            </a:r>
          </a:p>
        </p:txBody>
      </p:sp>
      <p:sp>
        <p:nvSpPr>
          <p:cNvPr id="3" name="TextBox 2">
            <a:extLst>
              <a:ext uri="{FF2B5EF4-FFF2-40B4-BE49-F238E27FC236}">
                <a16:creationId xmlns:a16="http://schemas.microsoft.com/office/drawing/2014/main" id="{991E7ACC-AA42-811F-2C5F-AB8572715545}"/>
              </a:ext>
            </a:extLst>
          </p:cNvPr>
          <p:cNvSpPr txBox="1"/>
          <p:nvPr/>
        </p:nvSpPr>
        <p:spPr>
          <a:xfrm>
            <a:off x="462963" y="280988"/>
            <a:ext cx="6103854" cy="707886"/>
          </a:xfrm>
          <a:prstGeom prst="rect">
            <a:avLst/>
          </a:prstGeom>
          <a:noFill/>
        </p:spPr>
        <p:txBody>
          <a:bodyPr wrap="square">
            <a:spAutoFit/>
          </a:bodyPr>
          <a:lstStyle/>
          <a:p>
            <a:r>
              <a:rPr lang="en-US" sz="4000" b="1" i="0" dirty="0">
                <a:solidFill>
                  <a:srgbClr val="FF0000"/>
                </a:solidFill>
                <a:effectLst/>
                <a:latin typeface="Garamond" panose="02020404030301010803" pitchFamily="18" charset="0"/>
              </a:rPr>
              <a:t>Manage Project Team</a:t>
            </a:r>
            <a:endParaRPr lang="en-US" sz="4000" b="1" dirty="0">
              <a:solidFill>
                <a:srgbClr val="FF0000"/>
              </a:solidFill>
              <a:effectLst/>
              <a:latin typeface="Garamond" panose="02020404030301010803" pitchFamily="18" charset="0"/>
            </a:endParaRPr>
          </a:p>
        </p:txBody>
      </p:sp>
      <p:pic>
        <p:nvPicPr>
          <p:cNvPr id="8" name="Picture 7">
            <a:extLst>
              <a:ext uri="{FF2B5EF4-FFF2-40B4-BE49-F238E27FC236}">
                <a16:creationId xmlns:a16="http://schemas.microsoft.com/office/drawing/2014/main" id="{760A8FD8-54B6-B839-A98E-F0A6EEE191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81652" y="2801313"/>
            <a:ext cx="6236863" cy="3441028"/>
          </a:xfrm>
          <a:prstGeom prst="rect">
            <a:avLst/>
          </a:prstGeom>
        </p:spPr>
      </p:pic>
    </p:spTree>
    <p:extLst>
      <p:ext uri="{BB962C8B-B14F-4D97-AF65-F5344CB8AC3E}">
        <p14:creationId xmlns:p14="http://schemas.microsoft.com/office/powerpoint/2010/main" val="2717038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58E194B9-BC7A-C5FF-57F5-6F57E3E79E35}"/>
              </a:ext>
            </a:extLst>
          </p:cNvPr>
          <p:cNvSpPr txBox="1"/>
          <p:nvPr/>
        </p:nvSpPr>
        <p:spPr>
          <a:xfrm>
            <a:off x="349838" y="158569"/>
            <a:ext cx="8963843" cy="584775"/>
          </a:xfrm>
          <a:prstGeom prst="rect">
            <a:avLst/>
          </a:prstGeom>
          <a:noFill/>
        </p:spPr>
        <p:txBody>
          <a:bodyPr wrap="square">
            <a:spAutoFit/>
          </a:bodyPr>
          <a:lstStyle/>
          <a:p>
            <a:r>
              <a:rPr lang="en-US" sz="3200" b="1" dirty="0">
                <a:solidFill>
                  <a:srgbClr val="FF0000"/>
                </a:solidFill>
                <a:latin typeface="Garamond" panose="02020404030301010803" pitchFamily="18" charset="0"/>
              </a:rPr>
              <a:t>Why is Effective Team Management Important?</a:t>
            </a:r>
          </a:p>
        </p:txBody>
      </p:sp>
      <p:sp>
        <p:nvSpPr>
          <p:cNvPr id="4" name="TextBox 3">
            <a:extLst>
              <a:ext uri="{FF2B5EF4-FFF2-40B4-BE49-F238E27FC236}">
                <a16:creationId xmlns:a16="http://schemas.microsoft.com/office/drawing/2014/main" id="{40DF6799-C567-746A-8C9F-884BF995DEDD}"/>
              </a:ext>
            </a:extLst>
          </p:cNvPr>
          <p:cNvSpPr txBox="1"/>
          <p:nvPr/>
        </p:nvSpPr>
        <p:spPr>
          <a:xfrm>
            <a:off x="415826" y="871344"/>
            <a:ext cx="8435941" cy="5576976"/>
          </a:xfrm>
          <a:prstGeom prst="rect">
            <a:avLst/>
          </a:prstGeom>
          <a:noFill/>
        </p:spPr>
        <p:txBody>
          <a:bodyPr wrap="square">
            <a:spAutoFit/>
          </a:bodyPr>
          <a:lstStyle/>
          <a:p>
            <a:pPr algn="just">
              <a:lnSpc>
                <a:spcPct val="150000"/>
              </a:lnSpc>
            </a:pPr>
            <a:r>
              <a:rPr lang="en-US" sz="2000" dirty="0">
                <a:latin typeface="Times New Roman" panose="02020603050405020304" pitchFamily="18" charset="0"/>
                <a:cs typeface="Times New Roman" panose="02020603050405020304" pitchFamily="18" charset="0"/>
              </a:rPr>
              <a:t>Effective team management is crucial for the success and productivity of any organization. It ensures that tasks are completed efficiently, deadlines are met, and team members are motivated to work together towards a common goal.</a:t>
            </a:r>
          </a:p>
          <a:p>
            <a:pPr algn="just">
              <a:lnSpc>
                <a:spcPct val="150000"/>
              </a:lnSpc>
            </a:pPr>
            <a:r>
              <a:rPr lang="en-US" sz="2000" dirty="0">
                <a:latin typeface="Times New Roman" panose="02020603050405020304" pitchFamily="18" charset="0"/>
                <a:cs typeface="Times New Roman" panose="02020603050405020304" pitchFamily="18" charset="0"/>
              </a:rPr>
              <a:t>Here are some key benefits of team management:</a:t>
            </a:r>
          </a:p>
          <a:p>
            <a:pPr algn="just">
              <a:lnSpc>
                <a:spcPct val="150000"/>
              </a:lnSpc>
            </a:pPr>
            <a:endParaRPr lang="en-US" sz="2000" dirty="0">
              <a:latin typeface="Times New Roman" panose="02020603050405020304" pitchFamily="18" charset="0"/>
              <a:cs typeface="Times New Roman" panose="02020603050405020304" pitchFamily="18" charset="0"/>
            </a:endParaRPr>
          </a:p>
          <a:p>
            <a:pPr algn="just">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Proper task management: </a:t>
            </a:r>
            <a:r>
              <a:rPr lang="en-US" sz="2000" dirty="0">
                <a:latin typeface="Times New Roman" panose="02020603050405020304" pitchFamily="18" charset="0"/>
                <a:cs typeface="Times New Roman" panose="02020603050405020304" pitchFamily="18" charset="0"/>
              </a:rPr>
              <a:t>Team management involves delegating tasks, setting priorities, and ensuring that every member knows their role in achieving the team’s goals. This helps avoid confusion, delays, and errors in work.</a:t>
            </a:r>
          </a:p>
          <a:p>
            <a:pPr algn="just">
              <a:lnSpc>
                <a:spcPct val="150000"/>
              </a:lnSpc>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algn="just">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Better communication:</a:t>
            </a:r>
            <a:r>
              <a:rPr lang="en-US" sz="2000" dirty="0">
                <a:latin typeface="Times New Roman" panose="02020603050405020304" pitchFamily="18" charset="0"/>
                <a:cs typeface="Times New Roman" panose="02020603050405020304" pitchFamily="18" charset="0"/>
              </a:rPr>
              <a:t> A good team manager knows how to communicate effectively with their team members. This creates a sense of clarity and transparency, leading to better understanding and cooperation within the team.</a:t>
            </a:r>
          </a:p>
        </p:txBody>
      </p:sp>
    </p:spTree>
    <p:extLst>
      <p:ext uri="{BB962C8B-B14F-4D97-AF65-F5344CB8AC3E}">
        <p14:creationId xmlns:p14="http://schemas.microsoft.com/office/powerpoint/2010/main" val="1941012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CD75B23-608D-E087-706E-86FCECA6C4FA}"/>
              </a:ext>
            </a:extLst>
          </p:cNvPr>
          <p:cNvSpPr txBox="1"/>
          <p:nvPr/>
        </p:nvSpPr>
        <p:spPr>
          <a:xfrm>
            <a:off x="360576" y="1412111"/>
            <a:ext cx="8736290" cy="4653646"/>
          </a:xfrm>
          <a:prstGeom prst="rect">
            <a:avLst/>
          </a:prstGeom>
          <a:noFill/>
        </p:spPr>
        <p:txBody>
          <a:bodyPr wrap="square">
            <a:spAutoFit/>
          </a:bodyPr>
          <a:lstStyle/>
          <a:p>
            <a:pPr algn="just">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Increased productivity: </a:t>
            </a:r>
            <a:r>
              <a:rPr lang="en-US" sz="2000" dirty="0">
                <a:latin typeface="Times New Roman" panose="02020603050405020304" pitchFamily="18" charset="0"/>
                <a:cs typeface="Times New Roman" panose="02020603050405020304" pitchFamily="18" charset="0"/>
              </a:rPr>
              <a:t>With proper management, teams can work more efficiently towards achieving their goals. Managers can identify any obstacles or issues that may hinder progress and find solutions to keep the team on track.</a:t>
            </a:r>
          </a:p>
          <a:p>
            <a:pPr algn="just">
              <a:lnSpc>
                <a:spcPct val="150000"/>
              </a:lnSpc>
            </a:pPr>
            <a:endParaRPr lang="en-US" sz="2000" dirty="0">
              <a:latin typeface="Times New Roman" panose="02020603050405020304" pitchFamily="18" charset="0"/>
              <a:cs typeface="Times New Roman" panose="02020603050405020304" pitchFamily="18" charset="0"/>
            </a:endParaRPr>
          </a:p>
          <a:p>
            <a:pPr algn="just">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Better utilization of resources: </a:t>
            </a:r>
            <a:r>
              <a:rPr lang="en-US" sz="2000" dirty="0">
                <a:latin typeface="Times New Roman" panose="02020603050405020304" pitchFamily="18" charset="0"/>
                <a:cs typeface="Times New Roman" panose="02020603050405020304" pitchFamily="18" charset="0"/>
              </a:rPr>
              <a:t>Team management ensures that resources are allocated effectively, reducing waste and maximizing output. This saves time, money, and effort for the organization.</a:t>
            </a:r>
          </a:p>
          <a:p>
            <a:pPr algn="just">
              <a:lnSpc>
                <a:spcPct val="150000"/>
              </a:lnSpc>
            </a:pPr>
            <a:endParaRPr lang="en-US" sz="2000" dirty="0">
              <a:latin typeface="Times New Roman" panose="02020603050405020304" pitchFamily="18" charset="0"/>
              <a:cs typeface="Times New Roman" panose="02020603050405020304" pitchFamily="18" charset="0"/>
            </a:endParaRPr>
          </a:p>
          <a:p>
            <a:pPr algn="just">
              <a:lnSpc>
                <a:spcPct val="150000"/>
              </a:lnSpc>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Improved teamwork and morale:</a:t>
            </a:r>
            <a:r>
              <a:rPr lang="en-US" sz="2000" dirty="0">
                <a:latin typeface="Times New Roman" panose="02020603050405020304" pitchFamily="18" charset="0"/>
                <a:cs typeface="Times New Roman" panose="02020603050405020304" pitchFamily="18" charset="0"/>
              </a:rPr>
              <a:t> Effective team management involves creating a positive work culture where everyone feels valued, motivated, and supported.</a:t>
            </a:r>
          </a:p>
        </p:txBody>
      </p:sp>
      <p:sp>
        <p:nvSpPr>
          <p:cNvPr id="7" name="TextBox 6">
            <a:extLst>
              <a:ext uri="{FF2B5EF4-FFF2-40B4-BE49-F238E27FC236}">
                <a16:creationId xmlns:a16="http://schemas.microsoft.com/office/drawing/2014/main" id="{953A50E1-68A3-C0C5-432A-4FE07B30ECE8}"/>
              </a:ext>
            </a:extLst>
          </p:cNvPr>
          <p:cNvSpPr txBox="1"/>
          <p:nvPr/>
        </p:nvSpPr>
        <p:spPr>
          <a:xfrm>
            <a:off x="252168" y="230113"/>
            <a:ext cx="8514760" cy="1077218"/>
          </a:xfrm>
          <a:prstGeom prst="rect">
            <a:avLst/>
          </a:prstGeom>
          <a:noFill/>
        </p:spPr>
        <p:txBody>
          <a:bodyPr wrap="square">
            <a:spAutoFit/>
          </a:bodyPr>
          <a:lstStyle/>
          <a:p>
            <a:r>
              <a:rPr lang="en-US" sz="3200" b="1" dirty="0">
                <a:solidFill>
                  <a:srgbClr val="FF0000"/>
                </a:solidFill>
                <a:latin typeface="Garamond" panose="02020404030301010803" pitchFamily="18" charset="0"/>
              </a:rPr>
              <a:t>Why is Effective Team Management Important? (cont.)</a:t>
            </a:r>
          </a:p>
        </p:txBody>
      </p:sp>
    </p:spTree>
    <p:extLst>
      <p:ext uri="{BB962C8B-B14F-4D97-AF65-F5344CB8AC3E}">
        <p14:creationId xmlns:p14="http://schemas.microsoft.com/office/powerpoint/2010/main" val="2753400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C3AF27-3538-BEBD-3C96-E8909FEEFA1C}"/>
              </a:ext>
            </a:extLst>
          </p:cNvPr>
          <p:cNvSpPr>
            <a:spLocks noGrp="1"/>
          </p:cNvSpPr>
          <p:nvPr>
            <p:ph type="title"/>
          </p:nvPr>
        </p:nvSpPr>
        <p:spPr>
          <a:xfrm>
            <a:off x="677334" y="355076"/>
            <a:ext cx="8596668" cy="1320800"/>
          </a:xfrm>
        </p:spPr>
        <p:txBody>
          <a:bodyPr>
            <a:normAutofit/>
          </a:bodyPr>
          <a:lstStyle/>
          <a:p>
            <a:r>
              <a:rPr lang="en-US" sz="4000" b="1" dirty="0">
                <a:solidFill>
                  <a:srgbClr val="FF0000"/>
                </a:solidFill>
                <a:latin typeface="Garamond" panose="02020404030301010803" pitchFamily="18" charset="0"/>
              </a:rPr>
              <a:t>Further References (Books &amp; Professional Resources)</a:t>
            </a:r>
          </a:p>
        </p:txBody>
      </p:sp>
      <p:sp>
        <p:nvSpPr>
          <p:cNvPr id="3" name="Content Placeholder 2">
            <a:extLst>
              <a:ext uri="{FF2B5EF4-FFF2-40B4-BE49-F238E27FC236}">
                <a16:creationId xmlns:a16="http://schemas.microsoft.com/office/drawing/2014/main" id="{967B6AC4-CD80-EEB4-53B6-C64EE1543981}"/>
              </a:ext>
            </a:extLst>
          </p:cNvPr>
          <p:cNvSpPr>
            <a:spLocks noGrp="1"/>
          </p:cNvSpPr>
          <p:nvPr>
            <p:ph idx="1"/>
          </p:nvPr>
        </p:nvSpPr>
        <p:spPr>
          <a:xfrm>
            <a:off x="677334" y="2145122"/>
            <a:ext cx="8596668" cy="3880773"/>
          </a:xfrm>
        </p:spPr>
        <p:txBody>
          <a:bodyPr>
            <a:normAutofit lnSpcReduction="10000"/>
          </a:bodyPr>
          <a:lstStyle/>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Project Management Institute (PMI)</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PMBOK® Guide</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Kerzner, H. – Project Management: A Systems Approach</a:t>
            </a:r>
          </a:p>
          <a:p>
            <a:pPr>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hlinkClick r:id="rId2"/>
              </a:rPr>
              <a:t>www.pmi.org</a:t>
            </a:r>
            <a:endParaRPr lang="en-US"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hlinkClick r:id="rId3"/>
              </a:rPr>
              <a:t>www.projectmanagement.com</a:t>
            </a:r>
            <a:endParaRPr lang="en-US"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hlinkClick r:id="rId4"/>
              </a:rPr>
              <a:t>www.mindtools.com</a:t>
            </a:r>
            <a:endParaRPr lang="en-US"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hlinkClick r:id="rId5"/>
              </a:rPr>
              <a:t>www.coursera.org</a:t>
            </a:r>
            <a:endParaRPr lang="en-US" sz="2400" dirty="0">
              <a:latin typeface="Times New Roman" panose="02020603050405020304" pitchFamily="18" charset="0"/>
              <a:cs typeface="Times New Roman" panose="02020603050405020304" pitchFamily="18" charset="0"/>
            </a:endParaRPr>
          </a:p>
          <a:p>
            <a:endParaRPr lang="en-US" dirty="0"/>
          </a:p>
          <a:p>
            <a:endParaRPr lang="en-US" dirty="0"/>
          </a:p>
        </p:txBody>
      </p:sp>
    </p:spTree>
    <p:extLst>
      <p:ext uri="{BB962C8B-B14F-4D97-AF65-F5344CB8AC3E}">
        <p14:creationId xmlns:p14="http://schemas.microsoft.com/office/powerpoint/2010/main" val="13359396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docProps/app.xml><?xml version="1.0" encoding="utf-8"?>
<Properties xmlns="http://schemas.openxmlformats.org/officeDocument/2006/extended-properties" xmlns:vt="http://schemas.openxmlformats.org/officeDocument/2006/docPropsVTypes">
  <Template>Facet</Template>
  <TotalTime>1068</TotalTime>
  <Words>1831</Words>
  <Application>Microsoft Office PowerPoint</Application>
  <PresentationFormat>Widescreen</PresentationFormat>
  <Paragraphs>124</Paragraphs>
  <Slides>22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Garamond</vt:lpstr>
      <vt:lpstr>Times New Roman</vt:lpstr>
      <vt:lpstr>Trebuchet MS</vt:lpstr>
      <vt:lpstr>Wingdings 3</vt:lpstr>
      <vt:lpstr>Facet</vt:lpstr>
      <vt:lpstr> </vt:lpstr>
      <vt:lpstr>PowerPoint Presentation</vt:lpstr>
      <vt:lpstr>PowerPoint Presentation</vt:lpstr>
      <vt:lpstr>PowerPoint Presentation</vt:lpstr>
      <vt:lpstr>Benefits of directing and managing project work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Further References (Books &amp; Professional Resources)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title>
  <dc:creator>Prabath Jayathilaka</dc:creator>
  <cp:lastModifiedBy>Prabath Jayathilaka</cp:lastModifiedBy>
  <cp:revision>11</cp:revision>
  <dcterms:created xsi:type="dcterms:W3CDTF">2024-05-02T14:45:56Z</dcterms:created>
  <dcterms:modified xsi:type="dcterms:W3CDTF">2026-05-02T05:07:19Z</dcterms:modified>
</cp:coreProperties>
</file>